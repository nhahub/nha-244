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4630400" cy="8229600"/>
  <p:notesSz cx="8229600" cy="14630400"/>
  <p:embeddedFontLst>
    <p:embeddedFont>
      <p:font typeface="Crimson Pro"/>
      <p:regular r:id="rId24"/>
    </p:embeddedFont>
    <p:embeddedFont>
      <p:font typeface="Crimson Pro"/>
      <p:regular r:id="rId25"/>
    </p:embeddedFont>
    <p:embeddedFont>
      <p:font typeface="Crimson Pro"/>
      <p:regular r:id="rId26"/>
    </p:embeddedFont>
    <p:embeddedFont>
      <p:font typeface="Crimson Pro"/>
      <p:regular r:id="rId27"/>
    </p:embeddedFont>
    <p:embeddedFont>
      <p:font typeface="Open Sans"/>
      <p:regular r:id="rId28"/>
    </p:embeddedFont>
    <p:embeddedFont>
      <p:font typeface="Open Sans"/>
      <p:regular r:id="rId29"/>
    </p:embeddedFont>
    <p:embeddedFont>
      <p:font typeface="Open Sans"/>
      <p:regular r:id="rId30"/>
    </p:embeddedFont>
    <p:embeddedFont>
      <p:font typeface="Open Sans"/>
      <p:regular r:id="rId3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nhahub/NHA-244"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alitarek-dot/Todo-List-nodejs/actions" TargetMode="External"/><Relationship Id="rId2" Type="http://schemas.openxmlformats.org/officeDocument/2006/relationships/image" Target="../media/image-4-1.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hyperlink" Target="http://192.168.74.128:30080" TargetMode="External"/><Relationship Id="rId6" Type="http://schemas.openxmlformats.org/officeDocument/2006/relationships/hyperlink" Target="http://192.168.74.128:30080" TargetMode="External"/><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7" Type="http://schemas.openxmlformats.org/officeDocument/2006/relationships/slideLayout" Target="../slideLayouts/slideLayout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73079"/>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DevOps Capstone Project: Todo List Application</a:t>
            </a:r>
            <a:endParaRPr lang="en-US" sz="4450" dirty="0"/>
          </a:p>
        </p:txBody>
      </p:sp>
      <p:sp>
        <p:nvSpPr>
          <p:cNvPr id="4" name="Text 1"/>
          <p:cNvSpPr/>
          <p:nvPr/>
        </p:nvSpPr>
        <p:spPr>
          <a:xfrm>
            <a:off x="6280190" y="3530798"/>
            <a:ext cx="7556421" cy="362903"/>
          </a:xfrm>
          <a:prstGeom prst="rect">
            <a:avLst/>
          </a:prstGeom>
          <a:noFill/>
          <a:ln/>
        </p:spPr>
        <p:txBody>
          <a:bodyPr wrap="none" lIns="0" tIns="0" rIns="0" bIns="0" rtlCol="0" anchor="t"/>
          <a:lstStyle/>
          <a:p>
            <a:pPr algn="l" indent="0" marL="0">
              <a:lnSpc>
                <a:spcPts val="2850"/>
              </a:lnSpc>
              <a:buNone/>
            </a:pPr>
            <a:r>
              <a:rPr lang="en-US" sz="1750" b="1" i="1" u="sng" dirty="0">
                <a:solidFill>
                  <a:srgbClr val="443728"/>
                </a:solidFill>
                <a:latin typeface="Open Sans" pitchFamily="34" charset="0"/>
                <a:ea typeface="Open Sans" pitchFamily="34" charset="-122"/>
                <a:cs typeface="Open Sans" pitchFamily="34" charset="-120"/>
              </a:rPr>
              <a:t>Team D Members:</a:t>
            </a:r>
            <a:endParaRPr lang="en-US" sz="1750" dirty="0"/>
          </a:p>
        </p:txBody>
      </p:sp>
      <p:sp>
        <p:nvSpPr>
          <p:cNvPr id="5" name="Text 2"/>
          <p:cNvSpPr/>
          <p:nvPr/>
        </p:nvSpPr>
        <p:spPr>
          <a:xfrm>
            <a:off x="6280190" y="4148852"/>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Soha Ashraf Eltokhy.</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a:t>
            </a:r>
            <a:endParaRPr lang="en-US" sz="1750" dirty="0"/>
          </a:p>
        </p:txBody>
      </p:sp>
      <p:sp>
        <p:nvSpPr>
          <p:cNvPr id="6" name="Text 3"/>
          <p:cNvSpPr/>
          <p:nvPr/>
        </p:nvSpPr>
        <p:spPr>
          <a:xfrm>
            <a:off x="6280190" y="4591050"/>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Haneen Sabry Abdelazeem.</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a:t>
            </a:r>
            <a:endParaRPr lang="en-US" sz="1750" dirty="0"/>
          </a:p>
        </p:txBody>
      </p:sp>
      <p:sp>
        <p:nvSpPr>
          <p:cNvPr id="7" name="Text 4"/>
          <p:cNvSpPr/>
          <p:nvPr/>
        </p:nvSpPr>
        <p:spPr>
          <a:xfrm>
            <a:off x="6280190" y="5033248"/>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Ali Tarek Ali.</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a:t>
            </a:r>
            <a:endParaRPr lang="en-US" sz="1750" dirty="0"/>
          </a:p>
        </p:txBody>
      </p:sp>
      <p:sp>
        <p:nvSpPr>
          <p:cNvPr id="8" name="Text 5"/>
          <p:cNvSpPr/>
          <p:nvPr/>
        </p:nvSpPr>
        <p:spPr>
          <a:xfrm>
            <a:off x="6280190" y="5475446"/>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Michael Fayez Beshara.</a:t>
            </a:r>
            <a:endParaRPr lang="en-US" sz="1750" dirty="0"/>
          </a:p>
        </p:txBody>
      </p:sp>
      <p:sp>
        <p:nvSpPr>
          <p:cNvPr id="9" name="Text 6"/>
          <p:cNvSpPr/>
          <p:nvPr/>
        </p:nvSpPr>
        <p:spPr>
          <a:xfrm>
            <a:off x="6280190" y="609350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Github Repo: </a:t>
            </a:r>
            <a:pPr algn="l" indent="0" marL="0">
              <a:lnSpc>
                <a:spcPts val="2850"/>
              </a:lnSpc>
              <a:buNone/>
            </a:pPr>
            <a:r>
              <a:rPr lang="en-US" sz="1750" u="sng" dirty="0">
                <a:solidFill>
                  <a:srgbClr val="835E54"/>
                </a:solidFill>
                <a:latin typeface="Open Sans" pitchFamily="34" charset="0"/>
                <a:ea typeface="Open Sans" pitchFamily="34" charset="-122"/>
                <a:cs typeface="Open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https://github.com/nhahub/NHA-244</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6167" y="601980"/>
            <a:ext cx="6088261" cy="444698"/>
          </a:xfrm>
          <a:prstGeom prst="rect">
            <a:avLst/>
          </a:prstGeom>
          <a:noFill/>
          <a:ln/>
        </p:spPr>
        <p:txBody>
          <a:bodyPr wrap="none" lIns="0" tIns="0" rIns="0" bIns="0" rtlCol="0" anchor="t"/>
          <a:lstStyle/>
          <a:p>
            <a:pPr algn="l" indent="0" marL="0">
              <a:lnSpc>
                <a:spcPts val="3500"/>
              </a:lnSpc>
              <a:buNone/>
            </a:pPr>
            <a:r>
              <a:rPr lang="en-US" sz="2800" b="1" dirty="0">
                <a:solidFill>
                  <a:srgbClr val="443728"/>
                </a:solidFill>
                <a:latin typeface="Crimson Pro Bold" pitchFamily="34" charset="0"/>
                <a:ea typeface="Crimson Pro Bold" pitchFamily="34" charset="-122"/>
                <a:cs typeface="Crimson Pro Bold" pitchFamily="34" charset="-120"/>
              </a:rPr>
              <a:t>Architectural Overview &amp; Project Phases</a:t>
            </a:r>
            <a:endParaRPr lang="en-US" sz="2800" dirty="0"/>
          </a:p>
        </p:txBody>
      </p:sp>
      <p:sp>
        <p:nvSpPr>
          <p:cNvPr id="3" name="Shape 1"/>
          <p:cNvSpPr/>
          <p:nvPr/>
        </p:nvSpPr>
        <p:spPr>
          <a:xfrm>
            <a:off x="766167" y="1544598"/>
            <a:ext cx="6477833" cy="1276112"/>
          </a:xfrm>
          <a:prstGeom prst="roundRect">
            <a:avLst>
              <a:gd name="adj" fmla="val 5732"/>
            </a:avLst>
          </a:prstGeom>
          <a:solidFill>
            <a:srgbClr val="FFFCFA"/>
          </a:solidFill>
          <a:ln/>
        </p:spPr>
      </p:sp>
      <p:sp>
        <p:nvSpPr>
          <p:cNvPr id="4" name="Shape 2"/>
          <p:cNvSpPr/>
          <p:nvPr/>
        </p:nvSpPr>
        <p:spPr>
          <a:xfrm>
            <a:off x="766167" y="1529358"/>
            <a:ext cx="6477833" cy="60960"/>
          </a:xfrm>
          <a:prstGeom prst="roundRect">
            <a:avLst>
              <a:gd name="adj" fmla="val 98041"/>
            </a:avLst>
          </a:prstGeom>
          <a:solidFill>
            <a:srgbClr val="835E54"/>
          </a:solidFill>
          <a:ln/>
        </p:spPr>
      </p:sp>
      <p:sp>
        <p:nvSpPr>
          <p:cNvPr id="5" name="Shape 3"/>
          <p:cNvSpPr/>
          <p:nvPr/>
        </p:nvSpPr>
        <p:spPr>
          <a:xfrm>
            <a:off x="3791605" y="1331238"/>
            <a:ext cx="426839" cy="426839"/>
          </a:xfrm>
          <a:prstGeom prst="roundRect">
            <a:avLst>
              <a:gd name="adj" fmla="val 214226"/>
            </a:avLst>
          </a:prstGeom>
          <a:solidFill>
            <a:srgbClr val="835E5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19597" y="1459230"/>
            <a:ext cx="170736" cy="170736"/>
          </a:xfrm>
          <a:prstGeom prst="rect">
            <a:avLst/>
          </a:prstGeom>
        </p:spPr>
      </p:pic>
      <p:sp>
        <p:nvSpPr>
          <p:cNvPr id="7" name="Text 4"/>
          <p:cNvSpPr/>
          <p:nvPr/>
        </p:nvSpPr>
        <p:spPr>
          <a:xfrm>
            <a:off x="923687" y="1900238"/>
            <a:ext cx="2373035" cy="222290"/>
          </a:xfrm>
          <a:prstGeom prst="rect">
            <a:avLst/>
          </a:prstGeom>
          <a:noFill/>
          <a:ln/>
        </p:spPr>
        <p:txBody>
          <a:bodyPr wrap="none" lIns="0" tIns="0" rIns="0" bIns="0" rtlCol="0" anchor="t"/>
          <a:lstStyle/>
          <a:p>
            <a:pPr algn="l" indent="0" marL="0">
              <a:lnSpc>
                <a:spcPts val="1750"/>
              </a:lnSpc>
              <a:buNone/>
            </a:pPr>
            <a:r>
              <a:rPr lang="en-US" sz="1400" b="1" dirty="0">
                <a:solidFill>
                  <a:srgbClr val="443728"/>
                </a:solidFill>
                <a:latin typeface="Crimson Pro Bold" pitchFamily="34" charset="0"/>
                <a:ea typeface="Crimson Pro Bold" pitchFamily="34" charset="-122"/>
                <a:cs typeface="Crimson Pro Bold" pitchFamily="34" charset="-120"/>
              </a:rPr>
              <a:t>Application &amp; Containerization</a:t>
            </a:r>
            <a:endParaRPr lang="en-US" sz="1400" dirty="0"/>
          </a:p>
        </p:txBody>
      </p:sp>
      <p:sp>
        <p:nvSpPr>
          <p:cNvPr id="8" name="Text 5"/>
          <p:cNvSpPr/>
          <p:nvPr/>
        </p:nvSpPr>
        <p:spPr>
          <a:xfrm>
            <a:off x="923687" y="2207895"/>
            <a:ext cx="6162794" cy="455295"/>
          </a:xfrm>
          <a:prstGeom prst="rect">
            <a:avLst/>
          </a:prstGeom>
          <a:noFill/>
          <a:ln/>
        </p:spPr>
        <p:txBody>
          <a:bodyPr wrap="squar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A Node.js Todo List application (Express.js + MongoDB) is containerized with Docker, using multi-stage builds.</a:t>
            </a:r>
            <a:endParaRPr lang="en-US" sz="1100" dirty="0"/>
          </a:p>
        </p:txBody>
      </p:sp>
      <p:sp>
        <p:nvSpPr>
          <p:cNvPr id="9" name="Shape 6"/>
          <p:cNvSpPr/>
          <p:nvPr/>
        </p:nvSpPr>
        <p:spPr>
          <a:xfrm>
            <a:off x="7386280" y="1544598"/>
            <a:ext cx="6477953" cy="1276112"/>
          </a:xfrm>
          <a:prstGeom prst="roundRect">
            <a:avLst>
              <a:gd name="adj" fmla="val 5732"/>
            </a:avLst>
          </a:prstGeom>
          <a:solidFill>
            <a:srgbClr val="FFFCFA"/>
          </a:solidFill>
          <a:ln/>
        </p:spPr>
      </p:sp>
      <p:sp>
        <p:nvSpPr>
          <p:cNvPr id="10" name="Shape 7"/>
          <p:cNvSpPr/>
          <p:nvPr/>
        </p:nvSpPr>
        <p:spPr>
          <a:xfrm>
            <a:off x="7386280" y="1529358"/>
            <a:ext cx="6477953" cy="60960"/>
          </a:xfrm>
          <a:prstGeom prst="roundRect">
            <a:avLst>
              <a:gd name="adj" fmla="val 98041"/>
            </a:avLst>
          </a:prstGeom>
          <a:solidFill>
            <a:srgbClr val="835E54"/>
          </a:solidFill>
          <a:ln/>
        </p:spPr>
      </p:sp>
      <p:sp>
        <p:nvSpPr>
          <p:cNvPr id="11" name="Shape 8"/>
          <p:cNvSpPr/>
          <p:nvPr/>
        </p:nvSpPr>
        <p:spPr>
          <a:xfrm>
            <a:off x="10411837" y="1331238"/>
            <a:ext cx="426839" cy="426839"/>
          </a:xfrm>
          <a:prstGeom prst="roundRect">
            <a:avLst>
              <a:gd name="adj" fmla="val 214226"/>
            </a:avLst>
          </a:prstGeom>
          <a:solidFill>
            <a:srgbClr val="835E54"/>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39829" y="1459230"/>
            <a:ext cx="170736" cy="170736"/>
          </a:xfrm>
          <a:prstGeom prst="rect">
            <a:avLst/>
          </a:prstGeom>
        </p:spPr>
      </p:pic>
      <p:sp>
        <p:nvSpPr>
          <p:cNvPr id="13" name="Text 9"/>
          <p:cNvSpPr/>
          <p:nvPr/>
        </p:nvSpPr>
        <p:spPr>
          <a:xfrm>
            <a:off x="7543800" y="1900238"/>
            <a:ext cx="2163366" cy="222290"/>
          </a:xfrm>
          <a:prstGeom prst="rect">
            <a:avLst/>
          </a:prstGeom>
          <a:noFill/>
          <a:ln/>
        </p:spPr>
        <p:txBody>
          <a:bodyPr wrap="none" lIns="0" tIns="0" rIns="0" bIns="0" rtlCol="0" anchor="t"/>
          <a:lstStyle/>
          <a:p>
            <a:pPr algn="l" indent="0" marL="0">
              <a:lnSpc>
                <a:spcPts val="1750"/>
              </a:lnSpc>
              <a:buNone/>
            </a:pPr>
            <a:r>
              <a:rPr lang="en-US" sz="1400" b="1" dirty="0">
                <a:solidFill>
                  <a:srgbClr val="443728"/>
                </a:solidFill>
                <a:latin typeface="Crimson Pro Bold" pitchFamily="34" charset="0"/>
                <a:ea typeface="Crimson Pro Bold" pitchFamily="34" charset="-122"/>
                <a:cs typeface="Crimson Pro Bold" pitchFamily="34" charset="-120"/>
              </a:rPr>
              <a:t>Orchestration &amp; Automation</a:t>
            </a:r>
            <a:endParaRPr lang="en-US" sz="1400" dirty="0"/>
          </a:p>
        </p:txBody>
      </p:sp>
      <p:sp>
        <p:nvSpPr>
          <p:cNvPr id="14" name="Text 10"/>
          <p:cNvSpPr/>
          <p:nvPr/>
        </p:nvSpPr>
        <p:spPr>
          <a:xfrm>
            <a:off x="7543800" y="2207895"/>
            <a:ext cx="6162913" cy="455295"/>
          </a:xfrm>
          <a:prstGeom prst="rect">
            <a:avLst/>
          </a:prstGeom>
          <a:noFill/>
          <a:ln/>
        </p:spPr>
        <p:txBody>
          <a:bodyPr wrap="squar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Kubernetes (minikube) orchestrates the application, while Ansible automates VM provisioning.</a:t>
            </a:r>
            <a:endParaRPr lang="en-US" sz="1100" dirty="0"/>
          </a:p>
        </p:txBody>
      </p:sp>
      <p:sp>
        <p:nvSpPr>
          <p:cNvPr id="15" name="Shape 11"/>
          <p:cNvSpPr/>
          <p:nvPr/>
        </p:nvSpPr>
        <p:spPr>
          <a:xfrm>
            <a:off x="766167" y="3176349"/>
            <a:ext cx="6477833" cy="1048464"/>
          </a:xfrm>
          <a:prstGeom prst="roundRect">
            <a:avLst>
              <a:gd name="adj" fmla="val 6977"/>
            </a:avLst>
          </a:prstGeom>
          <a:solidFill>
            <a:srgbClr val="FFFCFA"/>
          </a:solidFill>
          <a:ln/>
        </p:spPr>
      </p:sp>
      <p:sp>
        <p:nvSpPr>
          <p:cNvPr id="16" name="Shape 12"/>
          <p:cNvSpPr/>
          <p:nvPr/>
        </p:nvSpPr>
        <p:spPr>
          <a:xfrm>
            <a:off x="766167" y="3161109"/>
            <a:ext cx="6477833" cy="60960"/>
          </a:xfrm>
          <a:prstGeom prst="roundRect">
            <a:avLst>
              <a:gd name="adj" fmla="val 98041"/>
            </a:avLst>
          </a:prstGeom>
          <a:solidFill>
            <a:srgbClr val="835E54"/>
          </a:solidFill>
          <a:ln/>
        </p:spPr>
      </p:sp>
      <p:sp>
        <p:nvSpPr>
          <p:cNvPr id="17" name="Shape 13"/>
          <p:cNvSpPr/>
          <p:nvPr/>
        </p:nvSpPr>
        <p:spPr>
          <a:xfrm>
            <a:off x="3791605" y="2962989"/>
            <a:ext cx="426839" cy="426839"/>
          </a:xfrm>
          <a:prstGeom prst="roundRect">
            <a:avLst>
              <a:gd name="adj" fmla="val 214226"/>
            </a:avLst>
          </a:prstGeom>
          <a:solidFill>
            <a:srgbClr val="835E54"/>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19597" y="3090982"/>
            <a:ext cx="170736" cy="170736"/>
          </a:xfrm>
          <a:prstGeom prst="rect">
            <a:avLst/>
          </a:prstGeom>
        </p:spPr>
      </p:pic>
      <p:sp>
        <p:nvSpPr>
          <p:cNvPr id="19" name="Text 14"/>
          <p:cNvSpPr/>
          <p:nvPr/>
        </p:nvSpPr>
        <p:spPr>
          <a:xfrm>
            <a:off x="923687" y="3531989"/>
            <a:ext cx="1778675" cy="222290"/>
          </a:xfrm>
          <a:prstGeom prst="rect">
            <a:avLst/>
          </a:prstGeom>
          <a:noFill/>
          <a:ln/>
        </p:spPr>
        <p:txBody>
          <a:bodyPr wrap="none" lIns="0" tIns="0" rIns="0" bIns="0" rtlCol="0" anchor="t"/>
          <a:lstStyle/>
          <a:p>
            <a:pPr algn="l" indent="0" marL="0">
              <a:lnSpc>
                <a:spcPts val="1750"/>
              </a:lnSpc>
              <a:buNone/>
            </a:pPr>
            <a:r>
              <a:rPr lang="en-US" sz="1400" b="1" dirty="0">
                <a:solidFill>
                  <a:srgbClr val="443728"/>
                </a:solidFill>
                <a:latin typeface="Crimson Pro Bold" pitchFamily="34" charset="0"/>
                <a:ea typeface="Crimson Pro Bold" pitchFamily="34" charset="-122"/>
                <a:cs typeface="Crimson Pro Bold" pitchFamily="34" charset="-120"/>
              </a:rPr>
              <a:t>CI/CD &amp; Registry</a:t>
            </a:r>
            <a:endParaRPr lang="en-US" sz="1400" dirty="0"/>
          </a:p>
        </p:txBody>
      </p:sp>
      <p:sp>
        <p:nvSpPr>
          <p:cNvPr id="20" name="Text 15"/>
          <p:cNvSpPr/>
          <p:nvPr/>
        </p:nvSpPr>
        <p:spPr>
          <a:xfrm>
            <a:off x="923687" y="3839647"/>
            <a:ext cx="6162794" cy="227648"/>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GitHub Actions manages the CI/CD pipeline, pushing images to Docker Hub.</a:t>
            </a:r>
            <a:endParaRPr lang="en-US" sz="1100" dirty="0"/>
          </a:p>
        </p:txBody>
      </p:sp>
      <p:sp>
        <p:nvSpPr>
          <p:cNvPr id="21" name="Shape 16"/>
          <p:cNvSpPr/>
          <p:nvPr/>
        </p:nvSpPr>
        <p:spPr>
          <a:xfrm>
            <a:off x="7386280" y="3176349"/>
            <a:ext cx="6477953" cy="1048464"/>
          </a:xfrm>
          <a:prstGeom prst="roundRect">
            <a:avLst>
              <a:gd name="adj" fmla="val 6977"/>
            </a:avLst>
          </a:prstGeom>
          <a:solidFill>
            <a:srgbClr val="FFFCFA"/>
          </a:solidFill>
          <a:ln/>
        </p:spPr>
      </p:sp>
      <p:sp>
        <p:nvSpPr>
          <p:cNvPr id="22" name="Shape 17"/>
          <p:cNvSpPr/>
          <p:nvPr/>
        </p:nvSpPr>
        <p:spPr>
          <a:xfrm>
            <a:off x="7386280" y="3161109"/>
            <a:ext cx="6477953" cy="60960"/>
          </a:xfrm>
          <a:prstGeom prst="roundRect">
            <a:avLst>
              <a:gd name="adj" fmla="val 98041"/>
            </a:avLst>
          </a:prstGeom>
          <a:solidFill>
            <a:srgbClr val="835E54"/>
          </a:solidFill>
          <a:ln/>
        </p:spPr>
      </p:sp>
      <p:sp>
        <p:nvSpPr>
          <p:cNvPr id="23" name="Shape 18"/>
          <p:cNvSpPr/>
          <p:nvPr/>
        </p:nvSpPr>
        <p:spPr>
          <a:xfrm>
            <a:off x="10411837" y="2962989"/>
            <a:ext cx="426839" cy="426839"/>
          </a:xfrm>
          <a:prstGeom prst="roundRect">
            <a:avLst>
              <a:gd name="adj" fmla="val 214226"/>
            </a:avLst>
          </a:prstGeom>
          <a:solidFill>
            <a:srgbClr val="835E54"/>
          </a:solidFill>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39829" y="3090982"/>
            <a:ext cx="170736" cy="170736"/>
          </a:xfrm>
          <a:prstGeom prst="rect">
            <a:avLst/>
          </a:prstGeom>
        </p:spPr>
      </p:pic>
      <p:sp>
        <p:nvSpPr>
          <p:cNvPr id="25" name="Text 19"/>
          <p:cNvSpPr/>
          <p:nvPr/>
        </p:nvSpPr>
        <p:spPr>
          <a:xfrm>
            <a:off x="7543800" y="3531989"/>
            <a:ext cx="1778675" cy="222290"/>
          </a:xfrm>
          <a:prstGeom prst="rect">
            <a:avLst/>
          </a:prstGeom>
          <a:noFill/>
          <a:ln/>
        </p:spPr>
        <p:txBody>
          <a:bodyPr wrap="none" lIns="0" tIns="0" rIns="0" bIns="0" rtlCol="0" anchor="t"/>
          <a:lstStyle/>
          <a:p>
            <a:pPr algn="l" indent="0" marL="0">
              <a:lnSpc>
                <a:spcPts val="1750"/>
              </a:lnSpc>
              <a:buNone/>
            </a:pPr>
            <a:r>
              <a:rPr lang="en-US" sz="1400" b="1" dirty="0">
                <a:solidFill>
                  <a:srgbClr val="443728"/>
                </a:solidFill>
                <a:latin typeface="Crimson Pro Bold" pitchFamily="34" charset="0"/>
                <a:ea typeface="Crimson Pro Bold" pitchFamily="34" charset="-122"/>
                <a:cs typeface="Crimson Pro Bold" pitchFamily="34" charset="-120"/>
              </a:rPr>
              <a:t>Infrastructure</a:t>
            </a:r>
            <a:endParaRPr lang="en-US" sz="1400" dirty="0"/>
          </a:p>
        </p:txBody>
      </p:sp>
      <p:sp>
        <p:nvSpPr>
          <p:cNvPr id="26" name="Text 20"/>
          <p:cNvSpPr/>
          <p:nvPr/>
        </p:nvSpPr>
        <p:spPr>
          <a:xfrm>
            <a:off x="7543800" y="3839647"/>
            <a:ext cx="6162913" cy="227648"/>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The application is deployed on an Ubuntu VM.</a:t>
            </a:r>
            <a:endParaRPr lang="en-US" sz="1100" dirty="0"/>
          </a:p>
        </p:txBody>
      </p:sp>
      <p:sp>
        <p:nvSpPr>
          <p:cNvPr id="27" name="Text 21"/>
          <p:cNvSpPr/>
          <p:nvPr/>
        </p:nvSpPr>
        <p:spPr>
          <a:xfrm>
            <a:off x="766167" y="4438174"/>
            <a:ext cx="4615815" cy="355640"/>
          </a:xfrm>
          <a:prstGeom prst="rect">
            <a:avLst/>
          </a:prstGeom>
          <a:noFill/>
          <a:ln/>
        </p:spPr>
        <p:txBody>
          <a:bodyPr wrap="none" lIns="0" tIns="0" rIns="0" bIns="0" rtlCol="0" anchor="t"/>
          <a:lstStyle/>
          <a:p>
            <a:pPr algn="l" indent="0" marL="0">
              <a:lnSpc>
                <a:spcPts val="2800"/>
              </a:lnSpc>
              <a:buNone/>
            </a:pPr>
            <a:r>
              <a:rPr lang="en-US" sz="2200" b="1" dirty="0">
                <a:solidFill>
                  <a:srgbClr val="443728"/>
                </a:solidFill>
                <a:latin typeface="Crimson Pro Bold" pitchFamily="34" charset="0"/>
                <a:ea typeface="Crimson Pro Bold" pitchFamily="34" charset="-122"/>
                <a:cs typeface="Crimson Pro Bold" pitchFamily="34" charset="-120"/>
              </a:rPr>
              <a:t>Project Phases: A Structured Approach</a:t>
            </a:r>
            <a:endParaRPr lang="en-US" sz="2200" dirty="0"/>
          </a:p>
        </p:txBody>
      </p:sp>
      <p:sp>
        <p:nvSpPr>
          <p:cNvPr id="28" name="Text 22"/>
          <p:cNvSpPr/>
          <p:nvPr/>
        </p:nvSpPr>
        <p:spPr>
          <a:xfrm>
            <a:off x="766167" y="5007173"/>
            <a:ext cx="142280" cy="177760"/>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Crimson Pro Light" pitchFamily="34" charset="0"/>
                <a:ea typeface="Crimson Pro Light" pitchFamily="34" charset="-122"/>
                <a:cs typeface="Crimson Pro Light" pitchFamily="34" charset="-120"/>
              </a:rPr>
              <a:t>01</a:t>
            </a:r>
            <a:endParaRPr lang="en-US" sz="1100" dirty="0"/>
          </a:p>
        </p:txBody>
      </p:sp>
      <p:sp>
        <p:nvSpPr>
          <p:cNvPr id="29" name="Shape 23"/>
          <p:cNvSpPr/>
          <p:nvPr/>
        </p:nvSpPr>
        <p:spPr>
          <a:xfrm>
            <a:off x="766167" y="5233630"/>
            <a:ext cx="6477833" cy="15240"/>
          </a:xfrm>
          <a:prstGeom prst="rect">
            <a:avLst/>
          </a:prstGeom>
          <a:solidFill>
            <a:srgbClr val="835E54"/>
          </a:solidFill>
          <a:ln/>
        </p:spPr>
      </p:sp>
      <p:sp>
        <p:nvSpPr>
          <p:cNvPr id="30" name="Text 24"/>
          <p:cNvSpPr/>
          <p:nvPr/>
        </p:nvSpPr>
        <p:spPr>
          <a:xfrm>
            <a:off x="766167" y="5335191"/>
            <a:ext cx="3127058" cy="266819"/>
          </a:xfrm>
          <a:prstGeom prst="rect">
            <a:avLst/>
          </a:prstGeom>
          <a:noFill/>
          <a:ln/>
        </p:spPr>
        <p:txBody>
          <a:bodyPr wrap="none" lIns="0" tIns="0" rIns="0" bIns="0" rtlCol="0" anchor="t"/>
          <a:lstStyle/>
          <a:p>
            <a:pPr algn="l" indent="0" marL="0">
              <a:lnSpc>
                <a:spcPts val="2100"/>
              </a:lnSpc>
              <a:buNone/>
            </a:pPr>
            <a:r>
              <a:rPr lang="en-US" sz="1650" b="1" dirty="0">
                <a:solidFill>
                  <a:srgbClr val="443728"/>
                </a:solidFill>
                <a:latin typeface="Crimson Pro Bold" pitchFamily="34" charset="0"/>
                <a:ea typeface="Crimson Pro Bold" pitchFamily="34" charset="-122"/>
                <a:cs typeface="Crimson Pro Bold" pitchFamily="34" charset="-120"/>
              </a:rPr>
              <a:t>Phase 1: Application Dockerisation</a:t>
            </a:r>
            <a:endParaRPr lang="en-US" sz="1650" dirty="0"/>
          </a:p>
        </p:txBody>
      </p:sp>
      <p:sp>
        <p:nvSpPr>
          <p:cNvPr id="31" name="Text 25"/>
          <p:cNvSpPr/>
          <p:nvPr/>
        </p:nvSpPr>
        <p:spPr>
          <a:xfrm>
            <a:off x="766167" y="5687378"/>
            <a:ext cx="6477833" cy="455295"/>
          </a:xfrm>
          <a:prstGeom prst="rect">
            <a:avLst/>
          </a:prstGeom>
          <a:noFill/>
          <a:ln/>
        </p:spPr>
        <p:txBody>
          <a:bodyPr wrap="squar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The application was Dockerised using a multi-stage Dockerfile. Images were built, tested, and pushed to Docker Hub.</a:t>
            </a:r>
            <a:endParaRPr lang="en-US" sz="1100" dirty="0"/>
          </a:p>
        </p:txBody>
      </p:sp>
      <p:sp>
        <p:nvSpPr>
          <p:cNvPr id="32" name="Text 26"/>
          <p:cNvSpPr/>
          <p:nvPr/>
        </p:nvSpPr>
        <p:spPr>
          <a:xfrm>
            <a:off x="7386280" y="5007173"/>
            <a:ext cx="142280" cy="177760"/>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Crimson Pro Light" pitchFamily="34" charset="0"/>
                <a:ea typeface="Crimson Pro Light" pitchFamily="34" charset="-122"/>
                <a:cs typeface="Crimson Pro Light" pitchFamily="34" charset="-120"/>
              </a:rPr>
              <a:t>02</a:t>
            </a:r>
            <a:endParaRPr lang="en-US" sz="1100" dirty="0"/>
          </a:p>
        </p:txBody>
      </p:sp>
      <p:sp>
        <p:nvSpPr>
          <p:cNvPr id="33" name="Shape 27"/>
          <p:cNvSpPr/>
          <p:nvPr/>
        </p:nvSpPr>
        <p:spPr>
          <a:xfrm>
            <a:off x="7386280" y="5233630"/>
            <a:ext cx="6477953" cy="15240"/>
          </a:xfrm>
          <a:prstGeom prst="rect">
            <a:avLst/>
          </a:prstGeom>
          <a:solidFill>
            <a:srgbClr val="835E54"/>
          </a:solidFill>
          <a:ln/>
        </p:spPr>
      </p:sp>
      <p:sp>
        <p:nvSpPr>
          <p:cNvPr id="34" name="Text 28"/>
          <p:cNvSpPr/>
          <p:nvPr/>
        </p:nvSpPr>
        <p:spPr>
          <a:xfrm>
            <a:off x="7386280" y="5335191"/>
            <a:ext cx="3413760" cy="266819"/>
          </a:xfrm>
          <a:prstGeom prst="rect">
            <a:avLst/>
          </a:prstGeom>
          <a:noFill/>
          <a:ln/>
        </p:spPr>
        <p:txBody>
          <a:bodyPr wrap="none" lIns="0" tIns="0" rIns="0" bIns="0" rtlCol="0" anchor="t"/>
          <a:lstStyle/>
          <a:p>
            <a:pPr algn="l" indent="0" marL="0">
              <a:lnSpc>
                <a:spcPts val="2100"/>
              </a:lnSpc>
              <a:buNone/>
            </a:pPr>
            <a:r>
              <a:rPr lang="en-US" sz="1650" b="1" dirty="0">
                <a:solidFill>
                  <a:srgbClr val="443728"/>
                </a:solidFill>
                <a:latin typeface="Crimson Pro Bold" pitchFamily="34" charset="0"/>
                <a:ea typeface="Crimson Pro Bold" pitchFamily="34" charset="-122"/>
                <a:cs typeface="Crimson Pro Bold" pitchFamily="34" charset="-120"/>
              </a:rPr>
              <a:t>Phase 2: VM Automation with Ansible</a:t>
            </a:r>
            <a:endParaRPr lang="en-US" sz="1650" dirty="0"/>
          </a:p>
        </p:txBody>
      </p:sp>
      <p:sp>
        <p:nvSpPr>
          <p:cNvPr id="35" name="Text 29"/>
          <p:cNvSpPr/>
          <p:nvPr/>
        </p:nvSpPr>
        <p:spPr>
          <a:xfrm>
            <a:off x="7386280" y="5687378"/>
            <a:ext cx="6477953" cy="227648"/>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Ansible automated VM provisioning, installing Docker, kubectl, minikube, and MongoDB.</a:t>
            </a:r>
            <a:endParaRPr lang="en-US" sz="1100" dirty="0"/>
          </a:p>
        </p:txBody>
      </p:sp>
      <p:sp>
        <p:nvSpPr>
          <p:cNvPr id="36" name="Text 30"/>
          <p:cNvSpPr/>
          <p:nvPr/>
        </p:nvSpPr>
        <p:spPr>
          <a:xfrm>
            <a:off x="766167" y="6391632"/>
            <a:ext cx="142280" cy="177760"/>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Crimson Pro Light" pitchFamily="34" charset="0"/>
                <a:ea typeface="Crimson Pro Light" pitchFamily="34" charset="-122"/>
                <a:cs typeface="Crimson Pro Light" pitchFamily="34" charset="-120"/>
              </a:rPr>
              <a:t>03</a:t>
            </a:r>
            <a:endParaRPr lang="en-US" sz="1100" dirty="0"/>
          </a:p>
        </p:txBody>
      </p:sp>
      <p:sp>
        <p:nvSpPr>
          <p:cNvPr id="37" name="Shape 31"/>
          <p:cNvSpPr/>
          <p:nvPr/>
        </p:nvSpPr>
        <p:spPr>
          <a:xfrm>
            <a:off x="766167" y="6618089"/>
            <a:ext cx="6477833" cy="15240"/>
          </a:xfrm>
          <a:prstGeom prst="rect">
            <a:avLst/>
          </a:prstGeom>
          <a:solidFill>
            <a:srgbClr val="835E54"/>
          </a:solidFill>
          <a:ln/>
        </p:spPr>
      </p:sp>
      <p:sp>
        <p:nvSpPr>
          <p:cNvPr id="38" name="Text 32"/>
          <p:cNvSpPr/>
          <p:nvPr/>
        </p:nvSpPr>
        <p:spPr>
          <a:xfrm>
            <a:off x="766167" y="6719649"/>
            <a:ext cx="2973348" cy="266819"/>
          </a:xfrm>
          <a:prstGeom prst="rect">
            <a:avLst/>
          </a:prstGeom>
          <a:noFill/>
          <a:ln/>
        </p:spPr>
        <p:txBody>
          <a:bodyPr wrap="none" lIns="0" tIns="0" rIns="0" bIns="0" rtlCol="0" anchor="t"/>
          <a:lstStyle/>
          <a:p>
            <a:pPr algn="l" indent="0" marL="0">
              <a:lnSpc>
                <a:spcPts val="2100"/>
              </a:lnSpc>
              <a:buNone/>
            </a:pPr>
            <a:r>
              <a:rPr lang="en-US" sz="1650" b="1" dirty="0">
                <a:solidFill>
                  <a:srgbClr val="443728"/>
                </a:solidFill>
                <a:latin typeface="Crimson Pro Bold" pitchFamily="34" charset="0"/>
                <a:ea typeface="Crimson Pro Bold" pitchFamily="34" charset="-122"/>
                <a:cs typeface="Crimson Pro Bold" pitchFamily="34" charset="-120"/>
              </a:rPr>
              <a:t>Phase 3: Kubernetes Deployment</a:t>
            </a:r>
            <a:endParaRPr lang="en-US" sz="1650" dirty="0"/>
          </a:p>
        </p:txBody>
      </p:sp>
      <p:sp>
        <p:nvSpPr>
          <p:cNvPr id="39" name="Text 33"/>
          <p:cNvSpPr/>
          <p:nvPr/>
        </p:nvSpPr>
        <p:spPr>
          <a:xfrm>
            <a:off x="766167" y="7071836"/>
            <a:ext cx="6477833" cy="455295"/>
          </a:xfrm>
          <a:prstGeom prst="rect">
            <a:avLst/>
          </a:prstGeom>
          <a:noFill/>
          <a:ln/>
        </p:spPr>
        <p:txBody>
          <a:bodyPr wrap="squar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Kubernetes manifests were crafted and the application deployed with 2 replicas. It was exposed via NodePort.</a:t>
            </a:r>
            <a:endParaRPr lang="en-US" sz="1100" dirty="0"/>
          </a:p>
        </p:txBody>
      </p:sp>
      <p:sp>
        <p:nvSpPr>
          <p:cNvPr id="40" name="Text 34"/>
          <p:cNvSpPr/>
          <p:nvPr/>
        </p:nvSpPr>
        <p:spPr>
          <a:xfrm>
            <a:off x="7386280" y="6391632"/>
            <a:ext cx="142280" cy="177760"/>
          </a:xfrm>
          <a:prstGeom prst="rect">
            <a:avLst/>
          </a:prstGeom>
          <a:noFill/>
          <a:ln/>
        </p:spPr>
        <p:txBody>
          <a:bodyPr wrap="none" lIns="0" tIns="0" rIns="0" bIns="0" rtlCol="0" anchor="t"/>
          <a:lstStyle/>
          <a:p>
            <a:pPr algn="l" indent="0" marL="0">
              <a:lnSpc>
                <a:spcPts val="1750"/>
              </a:lnSpc>
              <a:buNone/>
            </a:pPr>
            <a:r>
              <a:rPr lang="en-US" sz="1100" dirty="0">
                <a:solidFill>
                  <a:srgbClr val="443728"/>
                </a:solidFill>
                <a:latin typeface="Crimson Pro Light" pitchFamily="34" charset="0"/>
                <a:ea typeface="Crimson Pro Light" pitchFamily="34" charset="-122"/>
                <a:cs typeface="Crimson Pro Light" pitchFamily="34" charset="-120"/>
              </a:rPr>
              <a:t>04</a:t>
            </a:r>
            <a:endParaRPr lang="en-US" sz="1100" dirty="0"/>
          </a:p>
        </p:txBody>
      </p:sp>
      <p:sp>
        <p:nvSpPr>
          <p:cNvPr id="41" name="Shape 35"/>
          <p:cNvSpPr/>
          <p:nvPr/>
        </p:nvSpPr>
        <p:spPr>
          <a:xfrm>
            <a:off x="7386280" y="6618089"/>
            <a:ext cx="6477953" cy="15240"/>
          </a:xfrm>
          <a:prstGeom prst="rect">
            <a:avLst/>
          </a:prstGeom>
          <a:solidFill>
            <a:srgbClr val="835E54"/>
          </a:solidFill>
          <a:ln/>
        </p:spPr>
      </p:sp>
      <p:sp>
        <p:nvSpPr>
          <p:cNvPr id="42" name="Text 36"/>
          <p:cNvSpPr/>
          <p:nvPr/>
        </p:nvSpPr>
        <p:spPr>
          <a:xfrm>
            <a:off x="7386280" y="6719649"/>
            <a:ext cx="2134433" cy="266819"/>
          </a:xfrm>
          <a:prstGeom prst="rect">
            <a:avLst/>
          </a:prstGeom>
          <a:noFill/>
          <a:ln/>
        </p:spPr>
        <p:txBody>
          <a:bodyPr wrap="none" lIns="0" tIns="0" rIns="0" bIns="0" rtlCol="0" anchor="t"/>
          <a:lstStyle/>
          <a:p>
            <a:pPr algn="l" indent="0" marL="0">
              <a:lnSpc>
                <a:spcPts val="2100"/>
              </a:lnSpc>
              <a:buNone/>
            </a:pPr>
            <a:r>
              <a:rPr lang="en-US" sz="1650" b="1" dirty="0">
                <a:solidFill>
                  <a:srgbClr val="443728"/>
                </a:solidFill>
                <a:latin typeface="Crimson Pro Bold" pitchFamily="34" charset="0"/>
                <a:ea typeface="Crimson Pro Bold" pitchFamily="34" charset="-122"/>
                <a:cs typeface="Crimson Pro Bold" pitchFamily="34" charset="-120"/>
              </a:rPr>
              <a:t>Phase 4: CI/CD Pipeline</a:t>
            </a:r>
            <a:endParaRPr lang="en-US" sz="1650" dirty="0"/>
          </a:p>
        </p:txBody>
      </p:sp>
      <p:sp>
        <p:nvSpPr>
          <p:cNvPr id="43" name="Text 37"/>
          <p:cNvSpPr/>
          <p:nvPr/>
        </p:nvSpPr>
        <p:spPr>
          <a:xfrm>
            <a:off x="7386280" y="7071836"/>
            <a:ext cx="6477953" cy="455295"/>
          </a:xfrm>
          <a:prstGeom prst="rect">
            <a:avLst/>
          </a:prstGeom>
          <a:noFill/>
          <a:ln/>
        </p:spPr>
        <p:txBody>
          <a:bodyPr wrap="square" lIns="0" tIns="0" rIns="0" bIns="0" rtlCol="0" anchor="t"/>
          <a:lstStyle/>
          <a:p>
            <a:pPr algn="l" indent="0" marL="0">
              <a:lnSpc>
                <a:spcPts val="1750"/>
              </a:lnSpc>
              <a:buNone/>
            </a:pPr>
            <a:r>
              <a:rPr lang="en-US" sz="1100" dirty="0">
                <a:solidFill>
                  <a:srgbClr val="443728"/>
                </a:solidFill>
                <a:latin typeface="Open Sans" pitchFamily="34" charset="0"/>
                <a:ea typeface="Open Sans" pitchFamily="34" charset="-122"/>
                <a:cs typeface="Open Sans" pitchFamily="34" charset="-120"/>
              </a:rPr>
              <a:t>A GitHub Actions workflow was established for automated Docker image builds. This integrated with Docker Hub using a multi-tag strategy.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54599"/>
            <a:ext cx="9946481" cy="708779"/>
          </a:xfrm>
          <a:prstGeom prst="rect">
            <a:avLst/>
          </a:prstGeom>
          <a:noFill/>
          <a:ln/>
        </p:spPr>
        <p:txBody>
          <a:bodyPr wrap="non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Triggering the CI/CD Pipeline: Live Demo</a:t>
            </a:r>
            <a:endParaRPr lang="en-US" sz="4450" dirty="0"/>
          </a:p>
        </p:txBody>
      </p:sp>
      <p:sp>
        <p:nvSpPr>
          <p:cNvPr id="3" name="Shape 1"/>
          <p:cNvSpPr/>
          <p:nvPr/>
        </p:nvSpPr>
        <p:spPr>
          <a:xfrm>
            <a:off x="1020604" y="2943701"/>
            <a:ext cx="226814" cy="1400532"/>
          </a:xfrm>
          <a:prstGeom prst="roundRect">
            <a:avLst>
              <a:gd name="adj" fmla="val 42003"/>
            </a:avLst>
          </a:prstGeom>
          <a:solidFill>
            <a:srgbClr val="EBE2E0"/>
          </a:solidFill>
          <a:ln w="7620">
            <a:solidFill>
              <a:srgbClr val="D1C8C6"/>
            </a:solidFill>
            <a:prstDash val="solid"/>
          </a:ln>
        </p:spPr>
      </p:sp>
      <p:sp>
        <p:nvSpPr>
          <p:cNvPr id="4" name="Shape 2"/>
          <p:cNvSpPr/>
          <p:nvPr/>
        </p:nvSpPr>
        <p:spPr>
          <a:xfrm>
            <a:off x="793790" y="2759393"/>
            <a:ext cx="680442" cy="680442"/>
          </a:xfrm>
          <a:prstGeom prst="roundRect">
            <a:avLst>
              <a:gd name="adj" fmla="val 67192"/>
            </a:avLst>
          </a:prstGeom>
          <a:solidFill>
            <a:srgbClr val="EBE2E0"/>
          </a:solidFill>
          <a:ln w="7620">
            <a:solidFill>
              <a:srgbClr val="D1C8C6"/>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3930" y="2929533"/>
            <a:ext cx="340162" cy="340162"/>
          </a:xfrm>
          <a:prstGeom prst="rect">
            <a:avLst/>
          </a:prstGeom>
        </p:spPr>
      </p:pic>
      <p:sp>
        <p:nvSpPr>
          <p:cNvPr id="6" name="Text 3"/>
          <p:cNvSpPr/>
          <p:nvPr/>
        </p:nvSpPr>
        <p:spPr>
          <a:xfrm>
            <a:off x="1701046" y="2830354"/>
            <a:ext cx="3966686" cy="425291"/>
          </a:xfrm>
          <a:prstGeom prst="rect">
            <a:avLst/>
          </a:prstGeom>
          <a:noFill/>
          <a:ln/>
        </p:spPr>
        <p:txBody>
          <a:bodyPr wrap="none" lIns="0" tIns="0" rIns="0" bIns="0" rtlCol="0" anchor="t"/>
          <a:lstStyle/>
          <a:p>
            <a:pPr algn="l" indent="0" marL="0">
              <a:lnSpc>
                <a:spcPts val="3300"/>
              </a:lnSpc>
              <a:buNone/>
            </a:pPr>
            <a:r>
              <a:rPr lang="en-US" sz="2650" b="1" dirty="0">
                <a:solidFill>
                  <a:srgbClr val="443728"/>
                </a:solidFill>
                <a:latin typeface="Crimson Pro Bold" pitchFamily="34" charset="0"/>
                <a:ea typeface="Crimson Pro Bold" pitchFamily="34" charset="-122"/>
                <a:cs typeface="Crimson Pro Bold" pitchFamily="34" charset="-120"/>
              </a:rPr>
              <a:t>Step 1: Make a Code Change</a:t>
            </a:r>
            <a:endParaRPr lang="en-US" sz="2650" dirty="0"/>
          </a:p>
        </p:txBody>
      </p:sp>
      <p:sp>
        <p:nvSpPr>
          <p:cNvPr id="7" name="Text 4"/>
          <p:cNvSpPr/>
          <p:nvPr/>
        </p:nvSpPr>
        <p:spPr>
          <a:xfrm>
            <a:off x="1701046" y="3391733"/>
            <a:ext cx="12135564"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Navigate to the application repository: </a:t>
            </a:r>
            <a:pPr algn="l" indent="0" marL="0">
              <a:lnSpc>
                <a:spcPts val="2850"/>
              </a:lnSpc>
              <a:buNone/>
            </a:pPr>
            <a:r>
              <a:rPr lang="en-US" sz="1750" dirty="0">
                <a:solidFill>
                  <a:srgbClr val="443728"/>
                </a:solidFill>
                <a:highlight>
                  <a:srgbClr val="F2EFED"/>
                </a:highlight>
                <a:latin typeface="Consolas" pitchFamily="34" charset="0"/>
                <a:ea typeface="Consolas" pitchFamily="34" charset="-122"/>
                <a:cs typeface="Consolas" pitchFamily="34" charset="-120"/>
              </a:rPr>
              <a:t>cd ~/Desktop/capstone-project/Todo-List-nodejs</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Edit the homepage file </a:t>
            </a:r>
            <a:pPr algn="l" indent="0" marL="0">
              <a:lnSpc>
                <a:spcPts val="2850"/>
              </a:lnSpc>
              <a:buNone/>
            </a:pPr>
            <a:r>
              <a:rPr lang="en-US" sz="1750" dirty="0">
                <a:solidFill>
                  <a:srgbClr val="443728"/>
                </a:solidFill>
                <a:highlight>
                  <a:srgbClr val="F2EFED"/>
                </a:highlight>
                <a:latin typeface="Consolas" pitchFamily="34" charset="0"/>
                <a:ea typeface="Consolas" pitchFamily="34" charset="-122"/>
                <a:cs typeface="Consolas" pitchFamily="34" charset="-120"/>
              </a:rPr>
              <a:t>views/home.ejs</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for instance, by modifying line 27 to "Todos - Live Demo".</a:t>
            </a:r>
            <a:endParaRPr lang="en-US" sz="1750" dirty="0"/>
          </a:p>
        </p:txBody>
      </p:sp>
      <p:sp>
        <p:nvSpPr>
          <p:cNvPr id="8" name="Shape 5"/>
          <p:cNvSpPr/>
          <p:nvPr/>
        </p:nvSpPr>
        <p:spPr>
          <a:xfrm>
            <a:off x="1360765" y="4911328"/>
            <a:ext cx="226814" cy="1763435"/>
          </a:xfrm>
          <a:prstGeom prst="roundRect">
            <a:avLst>
              <a:gd name="adj" fmla="val 42003"/>
            </a:avLst>
          </a:prstGeom>
          <a:solidFill>
            <a:srgbClr val="EBE2E0"/>
          </a:solidFill>
          <a:ln w="7620">
            <a:solidFill>
              <a:srgbClr val="D1C8C6"/>
            </a:solidFill>
            <a:prstDash val="solid"/>
          </a:ln>
        </p:spPr>
      </p:sp>
      <p:sp>
        <p:nvSpPr>
          <p:cNvPr id="9" name="Shape 6"/>
          <p:cNvSpPr/>
          <p:nvPr/>
        </p:nvSpPr>
        <p:spPr>
          <a:xfrm>
            <a:off x="1133951" y="4727019"/>
            <a:ext cx="680442" cy="680442"/>
          </a:xfrm>
          <a:prstGeom prst="roundRect">
            <a:avLst>
              <a:gd name="adj" fmla="val 67192"/>
            </a:avLst>
          </a:prstGeom>
          <a:solidFill>
            <a:srgbClr val="EBE2E0"/>
          </a:solidFill>
          <a:ln w="7620">
            <a:solidFill>
              <a:srgbClr val="D1C8C6"/>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4092" y="4897160"/>
            <a:ext cx="340162" cy="340162"/>
          </a:xfrm>
          <a:prstGeom prst="rect">
            <a:avLst/>
          </a:prstGeom>
        </p:spPr>
      </p:pic>
      <p:sp>
        <p:nvSpPr>
          <p:cNvPr id="11" name="Text 7"/>
          <p:cNvSpPr/>
          <p:nvPr/>
        </p:nvSpPr>
        <p:spPr>
          <a:xfrm>
            <a:off x="2041208" y="4797981"/>
            <a:ext cx="4900851" cy="425291"/>
          </a:xfrm>
          <a:prstGeom prst="rect">
            <a:avLst/>
          </a:prstGeom>
          <a:noFill/>
          <a:ln/>
        </p:spPr>
        <p:txBody>
          <a:bodyPr wrap="none" lIns="0" tIns="0" rIns="0" bIns="0" rtlCol="0" anchor="t"/>
          <a:lstStyle/>
          <a:p>
            <a:pPr algn="l" indent="0" marL="0">
              <a:lnSpc>
                <a:spcPts val="3300"/>
              </a:lnSpc>
              <a:buNone/>
            </a:pPr>
            <a:r>
              <a:rPr lang="en-US" sz="2650" b="1" dirty="0">
                <a:solidFill>
                  <a:srgbClr val="443728"/>
                </a:solidFill>
                <a:latin typeface="Crimson Pro Bold" pitchFamily="34" charset="0"/>
                <a:ea typeface="Crimson Pro Bold" pitchFamily="34" charset="-122"/>
                <a:cs typeface="Crimson Pro Bold" pitchFamily="34" charset="-120"/>
              </a:rPr>
              <a:t>Step 2: Commit and Push Changes</a:t>
            </a:r>
            <a:endParaRPr lang="en-US" sz="2650" dirty="0"/>
          </a:p>
        </p:txBody>
      </p:sp>
      <p:sp>
        <p:nvSpPr>
          <p:cNvPr id="12" name="Text 8"/>
          <p:cNvSpPr/>
          <p:nvPr/>
        </p:nvSpPr>
        <p:spPr>
          <a:xfrm>
            <a:off x="2041208" y="5359360"/>
            <a:ext cx="11795403" cy="1088708"/>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Stage the changes with </a:t>
            </a:r>
            <a:pPr algn="l" indent="0" marL="0">
              <a:lnSpc>
                <a:spcPts val="2850"/>
              </a:lnSpc>
              <a:buNone/>
            </a:pPr>
            <a:r>
              <a:rPr lang="en-US" sz="1750" dirty="0">
                <a:solidFill>
                  <a:srgbClr val="443728"/>
                </a:solidFill>
                <a:highlight>
                  <a:srgbClr val="F2EFED"/>
                </a:highlight>
                <a:latin typeface="Consolas" pitchFamily="34" charset="0"/>
                <a:ea typeface="Consolas" pitchFamily="34" charset="-122"/>
                <a:cs typeface="Consolas" pitchFamily="34" charset="-120"/>
              </a:rPr>
              <a:t>git add views/home.ejs</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then commit with a descriptive message like </a:t>
            </a:r>
            <a:pPr algn="l" indent="0" marL="0">
              <a:lnSpc>
                <a:spcPts val="2850"/>
              </a:lnSpc>
              <a:buNone/>
            </a:pPr>
            <a:r>
              <a:rPr lang="en-US" sz="1750" dirty="0">
                <a:solidFill>
                  <a:srgbClr val="443728"/>
                </a:solidFill>
                <a:highlight>
                  <a:srgbClr val="F2EFED"/>
                </a:highlight>
                <a:latin typeface="Consolas" pitchFamily="34" charset="0"/>
                <a:ea typeface="Consolas" pitchFamily="34" charset="-122"/>
                <a:cs typeface="Consolas" pitchFamily="34" charset="-120"/>
              </a:rPr>
              <a:t>"Demo: Update homepage for presentation"</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Finally, push to GitHub using </a:t>
            </a:r>
            <a:pPr algn="l" indent="0" marL="0">
              <a:lnSpc>
                <a:spcPts val="2850"/>
              </a:lnSpc>
              <a:buNone/>
            </a:pPr>
            <a:r>
              <a:rPr lang="en-US" sz="1750" dirty="0">
                <a:solidFill>
                  <a:srgbClr val="443728"/>
                </a:solidFill>
                <a:highlight>
                  <a:srgbClr val="F2EFED"/>
                </a:highlight>
                <a:latin typeface="Consolas" pitchFamily="34" charset="0"/>
                <a:ea typeface="Consolas" pitchFamily="34" charset="-122"/>
                <a:cs typeface="Consolas" pitchFamily="34" charset="-120"/>
              </a:rPr>
              <a:t>git push origin master</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to automatically trigger the CI/CD pipeline.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26031"/>
            <a:ext cx="10976967" cy="602456"/>
          </a:xfrm>
          <a:prstGeom prst="rect">
            <a:avLst/>
          </a:prstGeom>
          <a:noFill/>
          <a:ln/>
        </p:spPr>
        <p:txBody>
          <a:bodyPr wrap="none" lIns="0" tIns="0" rIns="0" bIns="0" rtlCol="0" anchor="t"/>
          <a:lstStyle/>
          <a:p>
            <a:pPr algn="l" indent="0" marL="0">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Monitoring the CI/CD Pipeline and Image Verification</a:t>
            </a:r>
            <a:endParaRPr lang="en-US" sz="3750" dirty="0"/>
          </a:p>
        </p:txBody>
      </p:sp>
      <p:sp>
        <p:nvSpPr>
          <p:cNvPr id="3" name="Text 1"/>
          <p:cNvSpPr/>
          <p:nvPr/>
        </p:nvSpPr>
        <p:spPr>
          <a:xfrm>
            <a:off x="793790" y="1710452"/>
            <a:ext cx="3762375" cy="361474"/>
          </a:xfrm>
          <a:prstGeom prst="rect">
            <a:avLst/>
          </a:prstGeom>
          <a:noFill/>
          <a:ln/>
        </p:spPr>
        <p:txBody>
          <a:bodyPr wrap="none" lIns="0" tIns="0" rIns="0" bIns="0" rtlCol="0" anchor="t"/>
          <a:lstStyle/>
          <a:p>
            <a:pPr algn="l" indent="0" marL="0">
              <a:lnSpc>
                <a:spcPts val="2800"/>
              </a:lnSpc>
              <a:buNone/>
            </a:pPr>
            <a:r>
              <a:rPr lang="en-US" sz="2250" b="1" dirty="0">
                <a:solidFill>
                  <a:srgbClr val="443728"/>
                </a:solidFill>
                <a:latin typeface="Crimson Pro Bold" pitchFamily="34" charset="0"/>
                <a:ea typeface="Crimson Pro Bold" pitchFamily="34" charset="-122"/>
                <a:cs typeface="Crimson Pro Bold" pitchFamily="34" charset="-120"/>
              </a:rPr>
              <a:t>Step 3: Monitor CI/CD Pipeline</a:t>
            </a:r>
            <a:endParaRPr lang="en-US" sz="2250" dirty="0"/>
          </a:p>
        </p:txBody>
      </p:sp>
      <p:sp>
        <p:nvSpPr>
          <p:cNvPr id="4" name="Text 2"/>
          <p:cNvSpPr/>
          <p:nvPr/>
        </p:nvSpPr>
        <p:spPr>
          <a:xfrm>
            <a:off x="793790" y="2264688"/>
            <a:ext cx="4799767" cy="616744"/>
          </a:xfrm>
          <a:prstGeom prst="rect">
            <a:avLst/>
          </a:prstGeom>
          <a:noFill/>
          <a:ln/>
        </p:spPr>
        <p:txBody>
          <a:bodyPr wrap="square" lIns="0" tIns="0" rIns="0" bIns="0" rtlCol="0" anchor="t"/>
          <a:lstStyle/>
          <a:p>
            <a:pPr algn="l" indent="0" marL="0">
              <a:lnSpc>
                <a:spcPts val="2400"/>
              </a:lnSpc>
              <a:buNone/>
            </a:pPr>
            <a:r>
              <a:rPr lang="en-US" sz="1500" dirty="0">
                <a:solidFill>
                  <a:srgbClr val="443728"/>
                </a:solidFill>
                <a:latin typeface="Open Sans" pitchFamily="34" charset="0"/>
                <a:ea typeface="Open Sans" pitchFamily="34" charset="-122"/>
                <a:cs typeface="Open Sans" pitchFamily="34" charset="-120"/>
              </a:rPr>
              <a:t>The pipeline should show the following stages, expected to complete within 40-60 seconds:</a:t>
            </a:r>
            <a:endParaRPr lang="en-US" sz="1500" dirty="0"/>
          </a:p>
        </p:txBody>
      </p:sp>
      <p:sp>
        <p:nvSpPr>
          <p:cNvPr id="5" name="Text 3"/>
          <p:cNvSpPr/>
          <p:nvPr/>
        </p:nvSpPr>
        <p:spPr>
          <a:xfrm>
            <a:off x="793790" y="3054906"/>
            <a:ext cx="4799767"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443728"/>
                </a:solidFill>
                <a:latin typeface="Open Sans" pitchFamily="34" charset="0"/>
                <a:ea typeface="Open Sans" pitchFamily="34" charset="-122"/>
                <a:cs typeface="Open Sans" pitchFamily="34" charset="-120"/>
              </a:rPr>
              <a:t>Checkout code</a:t>
            </a:r>
            <a:endParaRPr lang="en-US" sz="1500" dirty="0"/>
          </a:p>
        </p:txBody>
      </p:sp>
      <p:sp>
        <p:nvSpPr>
          <p:cNvPr id="6" name="Text 4"/>
          <p:cNvSpPr/>
          <p:nvPr/>
        </p:nvSpPr>
        <p:spPr>
          <a:xfrm>
            <a:off x="793790" y="3430667"/>
            <a:ext cx="4799767"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443728"/>
                </a:solidFill>
                <a:latin typeface="Open Sans" pitchFamily="34" charset="0"/>
                <a:ea typeface="Open Sans" pitchFamily="34" charset="-122"/>
                <a:cs typeface="Open Sans" pitchFamily="34" charset="-120"/>
              </a:rPr>
              <a:t>Set up Docker Buildx</a:t>
            </a:r>
            <a:endParaRPr lang="en-US" sz="1500" dirty="0"/>
          </a:p>
        </p:txBody>
      </p:sp>
      <p:sp>
        <p:nvSpPr>
          <p:cNvPr id="7" name="Text 5"/>
          <p:cNvSpPr/>
          <p:nvPr/>
        </p:nvSpPr>
        <p:spPr>
          <a:xfrm>
            <a:off x="793790" y="3806428"/>
            <a:ext cx="4799767"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443728"/>
                </a:solidFill>
                <a:latin typeface="Open Sans" pitchFamily="34" charset="0"/>
                <a:ea typeface="Open Sans" pitchFamily="34" charset="-122"/>
                <a:cs typeface="Open Sans" pitchFamily="34" charset="-120"/>
              </a:rPr>
              <a:t>Login to Docker Hub</a:t>
            </a:r>
            <a:endParaRPr lang="en-US" sz="1500" dirty="0"/>
          </a:p>
        </p:txBody>
      </p:sp>
      <p:sp>
        <p:nvSpPr>
          <p:cNvPr id="8" name="Text 6"/>
          <p:cNvSpPr/>
          <p:nvPr/>
        </p:nvSpPr>
        <p:spPr>
          <a:xfrm>
            <a:off x="793790" y="4182189"/>
            <a:ext cx="4799767"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443728"/>
                </a:solidFill>
                <a:latin typeface="Open Sans" pitchFamily="34" charset="0"/>
                <a:ea typeface="Open Sans" pitchFamily="34" charset="-122"/>
                <a:cs typeface="Open Sans" pitchFamily="34" charset="-120"/>
              </a:rPr>
              <a:t>Build and push Docker image</a:t>
            </a:r>
            <a:endParaRPr lang="en-US" sz="1500" dirty="0"/>
          </a:p>
        </p:txBody>
      </p:sp>
      <p:sp>
        <p:nvSpPr>
          <p:cNvPr id="9" name="Text 7"/>
          <p:cNvSpPr/>
          <p:nvPr/>
        </p:nvSpPr>
        <p:spPr>
          <a:xfrm>
            <a:off x="793790" y="4557951"/>
            <a:ext cx="4799767"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443728"/>
                </a:solidFill>
                <a:latin typeface="Open Sans" pitchFamily="34" charset="0"/>
                <a:ea typeface="Open Sans" pitchFamily="34" charset="-122"/>
                <a:cs typeface="Open Sans" pitchFamily="34" charset="-120"/>
              </a:rPr>
              <a:t>Image tagged with </a:t>
            </a:r>
            <a:pPr algn="l" indent="0" marL="0">
              <a:lnSpc>
                <a:spcPts val="2400"/>
              </a:lnSpc>
              <a:buNone/>
            </a:pPr>
            <a:r>
              <a:rPr lang="en-US" sz="1500" dirty="0">
                <a:solidFill>
                  <a:srgbClr val="443728"/>
                </a:solidFill>
                <a:highlight>
                  <a:srgbClr val="F2EFED"/>
                </a:highlight>
                <a:latin typeface="Consolas" pitchFamily="34" charset="0"/>
                <a:ea typeface="Consolas" pitchFamily="34" charset="-122"/>
                <a:cs typeface="Consolas" pitchFamily="34" charset="-120"/>
              </a:rPr>
              <a:t>latest</a:t>
            </a:r>
            <a:pPr algn="l" indent="0" marL="0">
              <a:lnSpc>
                <a:spcPts val="2400"/>
              </a:lnSpc>
              <a:buNone/>
            </a:pPr>
            <a:r>
              <a:rPr lang="en-US" sz="1500" dirty="0">
                <a:solidFill>
                  <a:srgbClr val="443728"/>
                </a:solidFill>
                <a:latin typeface="Open Sans" pitchFamily="34" charset="0"/>
                <a:ea typeface="Open Sans" pitchFamily="34" charset="-122"/>
                <a:cs typeface="Open Sans" pitchFamily="34" charset="-120"/>
              </a:rPr>
              <a:t> and </a:t>
            </a:r>
            <a:pPr algn="l" indent="0" marL="0">
              <a:lnSpc>
                <a:spcPts val="2400"/>
              </a:lnSpc>
              <a:buNone/>
            </a:pPr>
            <a:r>
              <a:rPr lang="en-US" sz="1500" dirty="0">
                <a:solidFill>
                  <a:srgbClr val="443728"/>
                </a:solidFill>
                <a:highlight>
                  <a:srgbClr val="F2EFED"/>
                </a:highlight>
                <a:latin typeface="Consolas" pitchFamily="34" charset="0"/>
                <a:ea typeface="Consolas" pitchFamily="34" charset="-122"/>
                <a:cs typeface="Consolas" pitchFamily="34" charset="-120"/>
              </a:rPr>
              <a:t>master-</a:t>
            </a:r>
            <a:endParaRPr lang="en-US" sz="1500" dirty="0"/>
          </a:p>
        </p:txBody>
      </p:sp>
      <p:sp>
        <p:nvSpPr>
          <p:cNvPr id="10" name="Text 8"/>
          <p:cNvSpPr/>
          <p:nvPr/>
        </p:nvSpPr>
        <p:spPr>
          <a:xfrm>
            <a:off x="793790" y="5039797"/>
            <a:ext cx="4799767" cy="616744"/>
          </a:xfrm>
          <a:prstGeom prst="rect">
            <a:avLst/>
          </a:prstGeom>
          <a:noFill/>
          <a:ln/>
        </p:spPr>
        <p:txBody>
          <a:bodyPr wrap="square" lIns="0" tIns="0" rIns="0" bIns="0" rtlCol="0" anchor="t"/>
          <a:lstStyle/>
          <a:p>
            <a:pPr algn="l" indent="0" marL="0">
              <a:lnSpc>
                <a:spcPts val="2400"/>
              </a:lnSpc>
              <a:buNone/>
            </a:pPr>
            <a:r>
              <a:rPr lang="en-US" sz="1500" u="sng" dirty="0">
                <a:solidFill>
                  <a:srgbClr val="835E54"/>
                </a:solidFill>
                <a:latin typeface="Open Sans" pitchFamily="34" charset="0"/>
                <a:ea typeface="Open Sans" pitchFamily="34" charset="-122"/>
                <a:cs typeface="Open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https://github.com/alitarek-dot/Todo-List-nodejs/actions</a:t>
            </a:r>
            <a:endParaRPr lang="en-US" sz="1500" dirty="0"/>
          </a:p>
        </p:txBody>
      </p:sp>
      <p:pic>
        <p:nvPicPr>
          <p:cNvPr id="11" name="Image 0" descr="preencoded.png">    </p:cNvPr>
          <p:cNvPicPr>
            <a:picLocks noChangeAspect="1"/>
          </p:cNvPicPr>
          <p:nvPr/>
        </p:nvPicPr>
        <p:blipFill>
          <a:blip r:embed="rId2"/>
          <a:stretch>
            <a:fillRect/>
          </a:stretch>
        </p:blipFill>
        <p:spPr>
          <a:xfrm>
            <a:off x="7698343" y="1701641"/>
            <a:ext cx="4518779" cy="2892028"/>
          </a:xfrm>
          <a:prstGeom prst="rect">
            <a:avLst/>
          </a:prstGeom>
        </p:spPr>
      </p:pic>
      <p:sp>
        <p:nvSpPr>
          <p:cNvPr id="12" name="Text 9"/>
          <p:cNvSpPr/>
          <p:nvPr/>
        </p:nvSpPr>
        <p:spPr>
          <a:xfrm>
            <a:off x="793790" y="6119217"/>
            <a:ext cx="4919782" cy="361474"/>
          </a:xfrm>
          <a:prstGeom prst="rect">
            <a:avLst/>
          </a:prstGeom>
          <a:noFill/>
          <a:ln/>
        </p:spPr>
        <p:txBody>
          <a:bodyPr wrap="none" lIns="0" tIns="0" rIns="0" bIns="0" rtlCol="0" anchor="t"/>
          <a:lstStyle/>
          <a:p>
            <a:pPr algn="l" indent="0" marL="0">
              <a:lnSpc>
                <a:spcPts val="2800"/>
              </a:lnSpc>
              <a:buNone/>
            </a:pPr>
            <a:r>
              <a:rPr lang="en-US" sz="2250" b="1" dirty="0">
                <a:solidFill>
                  <a:srgbClr val="443728"/>
                </a:solidFill>
                <a:latin typeface="Crimson Pro Bold" pitchFamily="34" charset="0"/>
                <a:ea typeface="Crimson Pro Bold" pitchFamily="34" charset="-122"/>
                <a:cs typeface="Crimson Pro Bold" pitchFamily="34" charset="-120"/>
              </a:rPr>
              <a:t>Step 4: Verify New Image on Docker Hub</a:t>
            </a:r>
            <a:endParaRPr lang="en-US" sz="2250" dirty="0"/>
          </a:p>
        </p:txBody>
      </p:sp>
      <p:sp>
        <p:nvSpPr>
          <p:cNvPr id="13" name="Text 10"/>
          <p:cNvSpPr/>
          <p:nvPr/>
        </p:nvSpPr>
        <p:spPr>
          <a:xfrm>
            <a:off x="793790" y="6769894"/>
            <a:ext cx="13042821" cy="308372"/>
          </a:xfrm>
          <a:prstGeom prst="rect">
            <a:avLst/>
          </a:prstGeom>
          <a:noFill/>
          <a:ln/>
        </p:spPr>
        <p:txBody>
          <a:bodyPr wrap="none" lIns="0" tIns="0" rIns="0" bIns="0" rtlCol="0" anchor="t"/>
          <a:lstStyle/>
          <a:p>
            <a:pPr algn="l" indent="0" marL="0">
              <a:lnSpc>
                <a:spcPts val="2400"/>
              </a:lnSpc>
              <a:buNone/>
            </a:pPr>
            <a:r>
              <a:rPr lang="en-US" sz="1500" dirty="0">
                <a:solidFill>
                  <a:srgbClr val="443728"/>
                </a:solidFill>
                <a:latin typeface="Open Sans" pitchFamily="34" charset="0"/>
                <a:ea typeface="Open Sans" pitchFamily="34" charset="-122"/>
                <a:cs typeface="Open Sans" pitchFamily="34" charset="-120"/>
              </a:rPr>
              <a:t>Check Docker Hub to confirm the new image has been pushed. Look for the </a:t>
            </a:r>
            <a:pPr algn="l" indent="0" marL="0">
              <a:lnSpc>
                <a:spcPts val="2400"/>
              </a:lnSpc>
              <a:buNone/>
            </a:pPr>
            <a:r>
              <a:rPr lang="en-US" sz="1500" dirty="0">
                <a:solidFill>
                  <a:srgbClr val="443728"/>
                </a:solidFill>
                <a:highlight>
                  <a:srgbClr val="F2EFED"/>
                </a:highlight>
                <a:latin typeface="Consolas" pitchFamily="34" charset="0"/>
                <a:ea typeface="Consolas" pitchFamily="34" charset="-122"/>
                <a:cs typeface="Consolas" pitchFamily="34" charset="-120"/>
              </a:rPr>
              <a:t>master-</a:t>
            </a:r>
            <a:pPr algn="l" indent="0" marL="0">
              <a:lnSpc>
                <a:spcPts val="2400"/>
              </a:lnSpc>
              <a:buNone/>
            </a:pPr>
            <a:r>
              <a:rPr lang="en-US" sz="1500" dirty="0">
                <a:solidFill>
                  <a:srgbClr val="443728"/>
                </a:solidFill>
                <a:latin typeface="Open Sans" pitchFamily="34" charset="0"/>
                <a:ea typeface="Open Sans" pitchFamily="34" charset="-122"/>
                <a:cs typeface="Open Sans" pitchFamily="34" charset="-120"/>
              </a:rPr>
              <a:t> tag; its timestamp should align with push time.</a:t>
            </a:r>
            <a:endParaRPr lang="en-US" sz="1500" dirty="0"/>
          </a:p>
        </p:txBody>
      </p:sp>
      <p:sp>
        <p:nvSpPr>
          <p:cNvPr id="14" name="Text 11"/>
          <p:cNvSpPr/>
          <p:nvPr/>
        </p:nvSpPr>
        <p:spPr>
          <a:xfrm>
            <a:off x="793790" y="7295078"/>
            <a:ext cx="13042821" cy="308372"/>
          </a:xfrm>
          <a:prstGeom prst="rect">
            <a:avLst/>
          </a:prstGeom>
          <a:noFill/>
          <a:ln/>
        </p:spPr>
        <p:txBody>
          <a:bodyPr wrap="none" lIns="0" tIns="0" rIns="0" bIns="0" rtlCol="0" anchor="t"/>
          <a:lstStyle/>
          <a:p>
            <a:pPr algn="l" indent="0" marL="0">
              <a:lnSpc>
                <a:spcPts val="2400"/>
              </a:lnSpc>
              <a:buNone/>
            </a:pPr>
            <a:r>
              <a:rPr lang="en-US" sz="1500" dirty="0">
                <a:solidFill>
                  <a:srgbClr val="443728"/>
                </a:solidFill>
                <a:latin typeface="Open Sans" pitchFamily="34" charset="0"/>
                <a:ea typeface="Open Sans" pitchFamily="34" charset="-122"/>
                <a:cs typeface="Open Sans" pitchFamily="34" charset="-120"/>
              </a:rPr>
              <a:t>https://hub.docker.com/r/alitarek123/todo-list-nodejs/tags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88908"/>
            <a:ext cx="8204597" cy="531614"/>
          </a:xfrm>
          <a:prstGeom prst="rect">
            <a:avLst/>
          </a:prstGeom>
          <a:noFill/>
          <a:ln/>
        </p:spPr>
        <p:txBody>
          <a:bodyPr wrap="none" lIns="0" tIns="0" rIns="0" bIns="0" rtlCol="0" anchor="t"/>
          <a:lstStyle/>
          <a:p>
            <a:pPr algn="l" indent="0" marL="0">
              <a:lnSpc>
                <a:spcPts val="4150"/>
              </a:lnSpc>
              <a:buNone/>
            </a:pPr>
            <a:r>
              <a:rPr lang="en-US" sz="3300" b="1" dirty="0">
                <a:solidFill>
                  <a:srgbClr val="443728"/>
                </a:solidFill>
                <a:latin typeface="Crimson Pro Bold" pitchFamily="34" charset="0"/>
                <a:ea typeface="Crimson Pro Bold" pitchFamily="34" charset="-122"/>
                <a:cs typeface="Crimson Pro Bold" pitchFamily="34" charset="-120"/>
              </a:rPr>
              <a:t>Deploying to Kubernetes &amp; Verifying Changes</a:t>
            </a:r>
            <a:endParaRPr lang="en-US" sz="3300" dirty="0"/>
          </a:p>
        </p:txBody>
      </p:sp>
      <p:sp>
        <p:nvSpPr>
          <p:cNvPr id="3" name="Shape 1"/>
          <p:cNvSpPr/>
          <p:nvPr/>
        </p:nvSpPr>
        <p:spPr>
          <a:xfrm>
            <a:off x="793790" y="1660684"/>
            <a:ext cx="6436400" cy="510302"/>
          </a:xfrm>
          <a:prstGeom prst="roundRect">
            <a:avLst>
              <a:gd name="adj" fmla="val 480057"/>
            </a:avLst>
          </a:prstGeom>
          <a:solidFill>
            <a:srgbClr val="EBE2E0"/>
          </a:solidFill>
          <a:ln w="7620">
            <a:solidFill>
              <a:srgbClr val="D1C8C6"/>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84414" y="1788200"/>
            <a:ext cx="255151" cy="255151"/>
          </a:xfrm>
          <a:prstGeom prst="rect">
            <a:avLst/>
          </a:prstGeom>
        </p:spPr>
      </p:pic>
      <p:sp>
        <p:nvSpPr>
          <p:cNvPr id="5" name="Text 2"/>
          <p:cNvSpPr/>
          <p:nvPr/>
        </p:nvSpPr>
        <p:spPr>
          <a:xfrm>
            <a:off x="963811" y="2341007"/>
            <a:ext cx="4787384" cy="318849"/>
          </a:xfrm>
          <a:prstGeom prst="rect">
            <a:avLst/>
          </a:prstGeom>
          <a:noFill/>
          <a:ln/>
        </p:spPr>
        <p:txBody>
          <a:bodyPr wrap="none" lIns="0" tIns="0" rIns="0" bIns="0" rtlCol="0" anchor="t"/>
          <a:lstStyle/>
          <a:p>
            <a:pPr algn="l" indent="0" marL="0">
              <a:lnSpc>
                <a:spcPts val="2500"/>
              </a:lnSpc>
              <a:buNone/>
            </a:pPr>
            <a:r>
              <a:rPr lang="en-US" sz="2000" b="1" dirty="0">
                <a:solidFill>
                  <a:srgbClr val="443728"/>
                </a:solidFill>
                <a:latin typeface="Crimson Pro Bold" pitchFamily="34" charset="0"/>
                <a:ea typeface="Crimson Pro Bold" pitchFamily="34" charset="-122"/>
                <a:cs typeface="Crimson Pro Bold" pitchFamily="34" charset="-120"/>
              </a:rPr>
              <a:t>Step 5: Deploy Updated Image to Kubernetes</a:t>
            </a:r>
            <a:endParaRPr lang="en-US" sz="2000" dirty="0"/>
          </a:p>
        </p:txBody>
      </p:sp>
      <p:sp>
        <p:nvSpPr>
          <p:cNvPr id="6" name="Text 3"/>
          <p:cNvSpPr/>
          <p:nvPr/>
        </p:nvSpPr>
        <p:spPr>
          <a:xfrm>
            <a:off x="963811" y="2761893"/>
            <a:ext cx="6096357" cy="1088708"/>
          </a:xfrm>
          <a:prstGeom prst="rect">
            <a:avLst/>
          </a:prstGeom>
          <a:noFill/>
          <a:ln/>
        </p:spPr>
        <p:txBody>
          <a:bodyPr wrap="square" lIns="0" tIns="0" rIns="0" bIns="0" rtlCol="0" anchor="t"/>
          <a:lstStyle/>
          <a:p>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SSH into the VM: </a:t>
            </a:r>
            <a:pPr algn="l" indent="0" marL="0">
              <a:lnSpc>
                <a:spcPts val="2100"/>
              </a:lnSpc>
              <a:buNone/>
            </a:pPr>
            <a:r>
              <a:rPr lang="en-US" sz="1300" dirty="0">
                <a:solidFill>
                  <a:srgbClr val="443728"/>
                </a:solidFill>
                <a:highlight>
                  <a:srgbClr val="F2EFED"/>
                </a:highlight>
                <a:latin typeface="Consolas" pitchFamily="34" charset="0"/>
                <a:ea typeface="Consolas" pitchFamily="34" charset="-122"/>
                <a:cs typeface="Consolas" pitchFamily="34" charset="-120"/>
              </a:rPr>
              <a:t>ssh -i ~/.ssh/vm_ansible alitarek@192.168.74.128</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 Then, update the Kubernetes deployment using the new image tag. Monitor the rollout status to ensure successful deployment and verify pods are running with the new image.</a:t>
            </a:r>
            <a:endParaRPr lang="en-US" sz="1300" dirty="0"/>
          </a:p>
        </p:txBody>
      </p:sp>
      <p:sp>
        <p:nvSpPr>
          <p:cNvPr id="7" name="Shape 4"/>
          <p:cNvSpPr/>
          <p:nvPr/>
        </p:nvSpPr>
        <p:spPr>
          <a:xfrm>
            <a:off x="7400211" y="1660684"/>
            <a:ext cx="6436400" cy="510302"/>
          </a:xfrm>
          <a:prstGeom prst="roundRect">
            <a:avLst>
              <a:gd name="adj" fmla="val 480057"/>
            </a:avLst>
          </a:prstGeom>
          <a:solidFill>
            <a:srgbClr val="EBE2E0"/>
          </a:solidFill>
          <a:ln w="7620">
            <a:solidFill>
              <a:srgbClr val="D1C8C6"/>
            </a:solidFill>
            <a:prstDash val="solid"/>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90835" y="1788200"/>
            <a:ext cx="255151" cy="255151"/>
          </a:xfrm>
          <a:prstGeom prst="rect">
            <a:avLst/>
          </a:prstGeom>
        </p:spPr>
      </p:pic>
      <p:sp>
        <p:nvSpPr>
          <p:cNvPr id="9" name="Text 5"/>
          <p:cNvSpPr/>
          <p:nvPr/>
        </p:nvSpPr>
        <p:spPr>
          <a:xfrm>
            <a:off x="7570232" y="2341007"/>
            <a:ext cx="3609856" cy="318849"/>
          </a:xfrm>
          <a:prstGeom prst="rect">
            <a:avLst/>
          </a:prstGeom>
          <a:noFill/>
          <a:ln/>
        </p:spPr>
        <p:txBody>
          <a:bodyPr wrap="none" lIns="0" tIns="0" rIns="0" bIns="0" rtlCol="0" anchor="t"/>
          <a:lstStyle/>
          <a:p>
            <a:pPr algn="l" indent="0" marL="0">
              <a:lnSpc>
                <a:spcPts val="2500"/>
              </a:lnSpc>
              <a:buNone/>
            </a:pPr>
            <a:r>
              <a:rPr lang="en-US" sz="2000" b="1" dirty="0">
                <a:solidFill>
                  <a:srgbClr val="443728"/>
                </a:solidFill>
                <a:latin typeface="Crimson Pro Bold" pitchFamily="34" charset="0"/>
                <a:ea typeface="Crimson Pro Bold" pitchFamily="34" charset="-122"/>
                <a:cs typeface="Crimson Pro Bold" pitchFamily="34" charset="-120"/>
              </a:rPr>
              <a:t>Step 6: Verify Changes in Browser</a:t>
            </a:r>
            <a:endParaRPr lang="en-US" sz="2000" dirty="0"/>
          </a:p>
        </p:txBody>
      </p:sp>
      <p:sp>
        <p:nvSpPr>
          <p:cNvPr id="10" name="Text 6"/>
          <p:cNvSpPr/>
          <p:nvPr/>
        </p:nvSpPr>
        <p:spPr>
          <a:xfrm>
            <a:off x="7570232" y="2761893"/>
            <a:ext cx="6096357" cy="816531"/>
          </a:xfrm>
          <a:prstGeom prst="rect">
            <a:avLst/>
          </a:prstGeom>
          <a:noFill/>
          <a:ln/>
        </p:spPr>
        <p:txBody>
          <a:bodyPr wrap="square" lIns="0" tIns="0" rIns="0" bIns="0" rtlCol="0" anchor="t"/>
          <a:lstStyle/>
          <a:p>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Access the application at </a:t>
            </a:r>
            <a:pPr algn="l" indent="0" marL="0">
              <a:lnSpc>
                <a:spcPts val="2100"/>
              </a:lnSpc>
              <a:buNone/>
            </a:pPr>
            <a:r>
              <a:rPr lang="en-US" sz="1300" u="sng" dirty="0">
                <a:solidFill>
                  <a:srgbClr val="835E54"/>
                </a:solidFill>
                <a:latin typeface="Open Sans" pitchFamily="34" charset="0"/>
                <a:ea typeface="Open Sans" pitchFamily="34" charset="-122"/>
                <a:cs typeface="Open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http://192.168.74.128:30080</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 The homepage should now display your updated text. A quick browser refresh might be needed to see the changes.</a:t>
            </a:r>
            <a:endParaRPr lang="en-US" sz="1300" dirty="0"/>
          </a:p>
        </p:txBody>
      </p:sp>
      <p:sp>
        <p:nvSpPr>
          <p:cNvPr id="11" name="Text 7"/>
          <p:cNvSpPr/>
          <p:nvPr/>
        </p:nvSpPr>
        <p:spPr>
          <a:xfrm>
            <a:off x="793790" y="4275773"/>
            <a:ext cx="3764042" cy="425291"/>
          </a:xfrm>
          <a:prstGeom prst="rect">
            <a:avLst/>
          </a:prstGeom>
          <a:noFill/>
          <a:ln/>
        </p:spPr>
        <p:txBody>
          <a:bodyPr wrap="none" lIns="0" tIns="0" rIns="0" bIns="0" rtlCol="0" anchor="t"/>
          <a:lstStyle/>
          <a:p>
            <a:pPr algn="l" indent="0" marL="0">
              <a:lnSpc>
                <a:spcPts val="3300"/>
              </a:lnSpc>
              <a:buNone/>
            </a:pPr>
            <a:r>
              <a:rPr lang="en-US" sz="2650" b="1" dirty="0">
                <a:solidFill>
                  <a:srgbClr val="443728"/>
                </a:solidFill>
                <a:latin typeface="Crimson Pro Bold" pitchFamily="34" charset="0"/>
                <a:ea typeface="Crimson Pro Bold" pitchFamily="34" charset="-122"/>
                <a:cs typeface="Crimson Pro Bold" pitchFamily="34" charset="-120"/>
              </a:rPr>
              <a:t>Accessing the Application </a:t>
            </a:r>
            <a:endParaRPr lang="en-US" sz="2650" dirty="0"/>
          </a:p>
        </p:txBody>
      </p:sp>
      <p:sp>
        <p:nvSpPr>
          <p:cNvPr id="12" name="Text 8"/>
          <p:cNvSpPr/>
          <p:nvPr/>
        </p:nvSpPr>
        <p:spPr>
          <a:xfrm>
            <a:off x="793790" y="4956215"/>
            <a:ext cx="13042821" cy="272177"/>
          </a:xfrm>
          <a:prstGeom prst="rect">
            <a:avLst/>
          </a:prstGeom>
          <a:noFill/>
          <a:ln/>
        </p:spPr>
        <p:txBody>
          <a:bodyPr wrap="none" lIns="0" tIns="0" rIns="0" bIns="0" rtlCol="0" anchor="t"/>
          <a:lstStyle/>
          <a:p>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The primary access method is via the URL: </a:t>
            </a:r>
            <a:pPr algn="l" indent="0" marL="0">
              <a:lnSpc>
                <a:spcPts val="2100"/>
              </a:lnSpc>
              <a:buNone/>
            </a:pPr>
            <a:r>
              <a:rPr lang="en-US" sz="1300" u="sng" dirty="0">
                <a:solidFill>
                  <a:srgbClr val="835E54"/>
                </a:solidFill>
                <a:latin typeface="Open Sans" pitchFamily="34" charset="0"/>
                <a:ea typeface="Open Sans" pitchFamily="34" charset="-122"/>
                <a:cs typeface="Open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http://192.168.74.128:30080</a:t>
            </a:r>
            <a:endParaRPr lang="en-US" sz="1300" dirty="0"/>
          </a:p>
        </p:txBody>
      </p:sp>
      <p:sp>
        <p:nvSpPr>
          <p:cNvPr id="13" name="Shape 9"/>
          <p:cNvSpPr/>
          <p:nvPr/>
        </p:nvSpPr>
        <p:spPr>
          <a:xfrm>
            <a:off x="793790" y="5419725"/>
            <a:ext cx="13042821" cy="2020848"/>
          </a:xfrm>
          <a:prstGeom prst="roundRect">
            <a:avLst>
              <a:gd name="adj" fmla="val 5430"/>
            </a:avLst>
          </a:prstGeom>
          <a:solidFill>
            <a:srgbClr val="FFFCFA"/>
          </a:solidFill>
          <a:ln w="22860">
            <a:solidFill>
              <a:srgbClr val="D1C8C6"/>
            </a:solidFill>
            <a:prstDash val="solid"/>
          </a:ln>
        </p:spPr>
      </p:sp>
      <p:sp>
        <p:nvSpPr>
          <p:cNvPr id="14" name="Shape 10"/>
          <p:cNvSpPr/>
          <p:nvPr/>
        </p:nvSpPr>
        <p:spPr>
          <a:xfrm>
            <a:off x="770930" y="5419725"/>
            <a:ext cx="91440" cy="2020848"/>
          </a:xfrm>
          <a:prstGeom prst="roundRect">
            <a:avLst>
              <a:gd name="adj" fmla="val 78140"/>
            </a:avLst>
          </a:prstGeom>
          <a:solidFill>
            <a:srgbClr val="835E54"/>
          </a:solidFill>
          <a:ln/>
        </p:spPr>
      </p:sp>
      <p:sp>
        <p:nvSpPr>
          <p:cNvPr id="15" name="Text 11"/>
          <p:cNvSpPr/>
          <p:nvPr/>
        </p:nvSpPr>
        <p:spPr>
          <a:xfrm>
            <a:off x="1055251" y="5612606"/>
            <a:ext cx="2129314" cy="265747"/>
          </a:xfrm>
          <a:prstGeom prst="rect">
            <a:avLst/>
          </a:prstGeom>
          <a:noFill/>
          <a:ln/>
        </p:spPr>
        <p:txBody>
          <a:bodyPr wrap="none" lIns="0" tIns="0" rIns="0" bIns="0" rtlCol="0" anchor="t"/>
          <a:lstStyle/>
          <a:p>
            <a:pPr algn="l" indent="0" marL="0">
              <a:lnSpc>
                <a:spcPts val="2050"/>
              </a:lnSpc>
              <a:buNone/>
            </a:pPr>
            <a:r>
              <a:rPr lang="en-US" sz="1650" b="1" dirty="0">
                <a:solidFill>
                  <a:srgbClr val="443728"/>
                </a:solidFill>
                <a:latin typeface="Crimson Pro Bold" pitchFamily="34" charset="0"/>
                <a:ea typeface="Crimson Pro Bold" pitchFamily="34" charset="-122"/>
                <a:cs typeface="Crimson Pro Bold" pitchFamily="34" charset="-120"/>
              </a:rPr>
              <a:t>Verification Commands</a:t>
            </a:r>
            <a:endParaRPr lang="en-US" sz="1650" dirty="0"/>
          </a:p>
        </p:txBody>
      </p:sp>
      <p:sp>
        <p:nvSpPr>
          <p:cNvPr id="16" name="Text 12"/>
          <p:cNvSpPr/>
          <p:nvPr/>
        </p:nvSpPr>
        <p:spPr>
          <a:xfrm>
            <a:off x="1055251" y="5980390"/>
            <a:ext cx="12588478" cy="272177"/>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443728"/>
                </a:solidFill>
                <a:latin typeface="Open Sans" pitchFamily="34" charset="0"/>
                <a:ea typeface="Open Sans" pitchFamily="34" charset="-122"/>
                <a:cs typeface="Open Sans" pitchFamily="34" charset="-120"/>
              </a:rPr>
              <a:t>Check pod status:</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 </a:t>
            </a:r>
            <a:pPr algn="l" indent="0" marL="0">
              <a:lnSpc>
                <a:spcPts val="2100"/>
              </a:lnSpc>
              <a:buNone/>
            </a:pPr>
            <a:r>
              <a:rPr lang="en-US" sz="1300" dirty="0">
                <a:solidFill>
                  <a:srgbClr val="443728"/>
                </a:solidFill>
                <a:highlight>
                  <a:srgbClr val="F2EFED"/>
                </a:highlight>
                <a:latin typeface="Consolas" pitchFamily="34" charset="0"/>
                <a:ea typeface="Consolas" pitchFamily="34" charset="-122"/>
                <a:cs typeface="Consolas" pitchFamily="34" charset="-120"/>
              </a:rPr>
              <a:t>kubectl get pods -n todo-app</a:t>
            </a:r>
            <a:endParaRPr lang="en-US" sz="1300" dirty="0"/>
          </a:p>
        </p:txBody>
      </p:sp>
      <p:sp>
        <p:nvSpPr>
          <p:cNvPr id="17" name="Text 13"/>
          <p:cNvSpPr/>
          <p:nvPr/>
        </p:nvSpPr>
        <p:spPr>
          <a:xfrm>
            <a:off x="1055251" y="6312098"/>
            <a:ext cx="12588478" cy="272177"/>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443728"/>
                </a:solidFill>
                <a:latin typeface="Open Sans" pitchFamily="34" charset="0"/>
                <a:ea typeface="Open Sans" pitchFamily="34" charset="-122"/>
                <a:cs typeface="Open Sans" pitchFamily="34" charset="-120"/>
              </a:rPr>
              <a:t>Check service details:</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 </a:t>
            </a:r>
            <a:pPr algn="l" indent="0" marL="0">
              <a:lnSpc>
                <a:spcPts val="2100"/>
              </a:lnSpc>
              <a:buNone/>
            </a:pPr>
            <a:r>
              <a:rPr lang="en-US" sz="1300" dirty="0">
                <a:solidFill>
                  <a:srgbClr val="443728"/>
                </a:solidFill>
                <a:highlight>
                  <a:srgbClr val="F2EFED"/>
                </a:highlight>
                <a:latin typeface="Consolas" pitchFamily="34" charset="0"/>
                <a:ea typeface="Consolas" pitchFamily="34" charset="-122"/>
                <a:cs typeface="Consolas" pitchFamily="34" charset="-120"/>
              </a:rPr>
              <a:t>kubectl get svc -n todo-app</a:t>
            </a:r>
            <a:endParaRPr lang="en-US" sz="1300" dirty="0"/>
          </a:p>
        </p:txBody>
      </p:sp>
      <p:sp>
        <p:nvSpPr>
          <p:cNvPr id="18" name="Text 14"/>
          <p:cNvSpPr/>
          <p:nvPr/>
        </p:nvSpPr>
        <p:spPr>
          <a:xfrm>
            <a:off x="1055251" y="6643807"/>
            <a:ext cx="12588478" cy="272177"/>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443728"/>
                </a:solidFill>
                <a:latin typeface="Open Sans" pitchFamily="34" charset="0"/>
                <a:ea typeface="Open Sans" pitchFamily="34" charset="-122"/>
                <a:cs typeface="Open Sans" pitchFamily="34" charset="-120"/>
              </a:rPr>
              <a:t>View application logs:</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 </a:t>
            </a:r>
            <a:pPr algn="l" indent="0" marL="0">
              <a:lnSpc>
                <a:spcPts val="2100"/>
              </a:lnSpc>
              <a:buNone/>
            </a:pPr>
            <a:r>
              <a:rPr lang="en-US" sz="1300" dirty="0">
                <a:solidFill>
                  <a:srgbClr val="443728"/>
                </a:solidFill>
                <a:highlight>
                  <a:srgbClr val="F2EFED"/>
                </a:highlight>
                <a:latin typeface="Consolas" pitchFamily="34" charset="0"/>
                <a:ea typeface="Consolas" pitchFamily="34" charset="-122"/>
                <a:cs typeface="Consolas" pitchFamily="34" charset="-120"/>
              </a:rPr>
              <a:t>kubectl logs -n todo-app -l app=todo-app --tail=50</a:t>
            </a:r>
            <a:endParaRPr lang="en-US" sz="1300" dirty="0"/>
          </a:p>
        </p:txBody>
      </p:sp>
      <p:sp>
        <p:nvSpPr>
          <p:cNvPr id="19" name="Text 15"/>
          <p:cNvSpPr/>
          <p:nvPr/>
        </p:nvSpPr>
        <p:spPr>
          <a:xfrm>
            <a:off x="1055251" y="6975515"/>
            <a:ext cx="12588478" cy="272177"/>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443728"/>
                </a:solidFill>
                <a:latin typeface="Open Sans" pitchFamily="34" charset="0"/>
                <a:ea typeface="Open Sans" pitchFamily="34" charset="-122"/>
                <a:cs typeface="Open Sans" pitchFamily="34" charset="-120"/>
              </a:rPr>
              <a:t>Test from inside minikube:</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 </a:t>
            </a:r>
            <a:pPr algn="l" indent="0" marL="0">
              <a:lnSpc>
                <a:spcPts val="2100"/>
              </a:lnSpc>
              <a:buNone/>
            </a:pPr>
            <a:r>
              <a:rPr lang="en-US" sz="1300" dirty="0">
                <a:solidFill>
                  <a:srgbClr val="443728"/>
                </a:solidFill>
                <a:latin typeface="Open Sans" pitchFamily="34" charset="0"/>
                <a:ea typeface="Open Sans" pitchFamily="34" charset="-122"/>
                <a:cs typeface="Open Sans" pitchFamily="34" charset="-120"/>
              </a:rPr>
              <a:t>docker exec minikube curl -s http://10.244.0.3:4000 | grep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42938"/>
            <a:ext cx="4536519"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Key Metrics &amp; Details</a:t>
            </a:r>
            <a:endParaRPr lang="en-US" sz="3550" dirty="0"/>
          </a:p>
        </p:txBody>
      </p:sp>
      <p:sp>
        <p:nvSpPr>
          <p:cNvPr id="4" name="Text 1"/>
          <p:cNvSpPr/>
          <p:nvPr/>
        </p:nvSpPr>
        <p:spPr>
          <a:xfrm>
            <a:off x="6280190" y="1663541"/>
            <a:ext cx="3319582" cy="340162"/>
          </a:xfrm>
          <a:prstGeom prst="rect">
            <a:avLst/>
          </a:prstGeom>
          <a:noFill/>
          <a:ln/>
        </p:spPr>
        <p:txBody>
          <a:bodyPr wrap="none" lIns="0" tIns="0" rIns="0" bIns="0" rtlCol="0" anchor="t"/>
          <a:lstStyle/>
          <a:p>
            <a:pPr algn="l" indent="0" marL="0">
              <a:lnSpc>
                <a:spcPts val="2650"/>
              </a:lnSpc>
              <a:buNone/>
            </a:pPr>
            <a:r>
              <a:rPr lang="en-US" sz="2100" b="1" dirty="0">
                <a:solidFill>
                  <a:srgbClr val="443728"/>
                </a:solidFill>
                <a:latin typeface="Crimson Pro Bold" pitchFamily="34" charset="0"/>
                <a:ea typeface="Crimson Pro Bold" pitchFamily="34" charset="-122"/>
                <a:cs typeface="Crimson Pro Bold" pitchFamily="34" charset="-120"/>
              </a:rPr>
              <a:t>Infrastructure Specifications</a:t>
            </a:r>
            <a:endParaRPr lang="en-US" sz="2100" dirty="0"/>
          </a:p>
        </p:txBody>
      </p:sp>
      <p:sp>
        <p:nvSpPr>
          <p:cNvPr id="5" name="Text 2"/>
          <p:cNvSpPr/>
          <p:nvPr/>
        </p:nvSpPr>
        <p:spPr>
          <a:xfrm>
            <a:off x="6280190" y="2185154"/>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VM OS:</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Ubuntu 24.04.3 LTS</a:t>
            </a:r>
            <a:endParaRPr lang="en-US" sz="1400" dirty="0"/>
          </a:p>
        </p:txBody>
      </p:sp>
      <p:sp>
        <p:nvSpPr>
          <p:cNvPr id="6" name="Text 3"/>
          <p:cNvSpPr/>
          <p:nvPr/>
        </p:nvSpPr>
        <p:spPr>
          <a:xfrm>
            <a:off x="6280190" y="2538889"/>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VM IP:</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192.168.74.128</a:t>
            </a:r>
            <a:endParaRPr lang="en-US" sz="1400" dirty="0"/>
          </a:p>
        </p:txBody>
      </p:sp>
      <p:sp>
        <p:nvSpPr>
          <p:cNvPr id="7" name="Text 4"/>
          <p:cNvSpPr/>
          <p:nvPr/>
        </p:nvSpPr>
        <p:spPr>
          <a:xfrm>
            <a:off x="6280190" y="2892623"/>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Minikube IP:</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192.168.49.2</a:t>
            </a:r>
            <a:endParaRPr lang="en-US" sz="1400" dirty="0"/>
          </a:p>
        </p:txBody>
      </p:sp>
      <p:sp>
        <p:nvSpPr>
          <p:cNvPr id="8" name="Text 5"/>
          <p:cNvSpPr/>
          <p:nvPr/>
        </p:nvSpPr>
        <p:spPr>
          <a:xfrm>
            <a:off x="6280190" y="3246358"/>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Kubernetes Version: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v1.34.0</a:t>
            </a:r>
            <a:endParaRPr lang="en-US" sz="1400" dirty="0"/>
          </a:p>
        </p:txBody>
      </p:sp>
      <p:sp>
        <p:nvSpPr>
          <p:cNvPr id="9" name="Text 6"/>
          <p:cNvSpPr/>
          <p:nvPr/>
        </p:nvSpPr>
        <p:spPr>
          <a:xfrm>
            <a:off x="6280190" y="3600093"/>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Container Runtime:</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Docker</a:t>
            </a:r>
            <a:endParaRPr lang="en-US" sz="1400" dirty="0"/>
          </a:p>
        </p:txBody>
      </p:sp>
      <p:sp>
        <p:nvSpPr>
          <p:cNvPr id="10" name="Text 7"/>
          <p:cNvSpPr/>
          <p:nvPr/>
        </p:nvSpPr>
        <p:spPr>
          <a:xfrm>
            <a:off x="6280190" y="3953828"/>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Minikube Resources:</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2 CPUs, 2GB RAM</a:t>
            </a:r>
            <a:endParaRPr lang="en-US" sz="1400" dirty="0"/>
          </a:p>
        </p:txBody>
      </p:sp>
      <p:sp>
        <p:nvSpPr>
          <p:cNvPr id="11" name="Text 8"/>
          <p:cNvSpPr/>
          <p:nvPr/>
        </p:nvSpPr>
        <p:spPr>
          <a:xfrm>
            <a:off x="6280190" y="4715828"/>
            <a:ext cx="2721888" cy="340162"/>
          </a:xfrm>
          <a:prstGeom prst="rect">
            <a:avLst/>
          </a:prstGeom>
          <a:noFill/>
          <a:ln/>
        </p:spPr>
        <p:txBody>
          <a:bodyPr wrap="none" lIns="0" tIns="0" rIns="0" bIns="0" rtlCol="0" anchor="t"/>
          <a:lstStyle/>
          <a:p>
            <a:pPr algn="l" indent="0" marL="0">
              <a:lnSpc>
                <a:spcPts val="2650"/>
              </a:lnSpc>
              <a:buNone/>
            </a:pPr>
            <a:r>
              <a:rPr lang="en-US" sz="2100" b="1" dirty="0">
                <a:solidFill>
                  <a:srgbClr val="443728"/>
                </a:solidFill>
                <a:latin typeface="Crimson Pro Bold" pitchFamily="34" charset="0"/>
                <a:ea typeface="Crimson Pro Bold" pitchFamily="34" charset="-122"/>
                <a:cs typeface="Crimson Pro Bold" pitchFamily="34" charset="-120"/>
              </a:rPr>
              <a:t>Application Details</a:t>
            </a:r>
            <a:endParaRPr lang="en-US" sz="2100" dirty="0"/>
          </a:p>
        </p:txBody>
      </p:sp>
      <p:sp>
        <p:nvSpPr>
          <p:cNvPr id="12" name="Text 9"/>
          <p:cNvSpPr/>
          <p:nvPr/>
        </p:nvSpPr>
        <p:spPr>
          <a:xfrm>
            <a:off x="6280190" y="5237440"/>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Replicas:</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2 pods for high availability</a:t>
            </a:r>
            <a:endParaRPr lang="en-US" sz="1400" dirty="0"/>
          </a:p>
        </p:txBody>
      </p:sp>
      <p:sp>
        <p:nvSpPr>
          <p:cNvPr id="13" name="Text 10"/>
          <p:cNvSpPr/>
          <p:nvPr/>
        </p:nvSpPr>
        <p:spPr>
          <a:xfrm>
            <a:off x="6280190" y="5591175"/>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Container Port:</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4000</a:t>
            </a:r>
            <a:endParaRPr lang="en-US" sz="1400" dirty="0"/>
          </a:p>
        </p:txBody>
      </p:sp>
      <p:sp>
        <p:nvSpPr>
          <p:cNvPr id="14" name="Text 11"/>
          <p:cNvSpPr/>
          <p:nvPr/>
        </p:nvSpPr>
        <p:spPr>
          <a:xfrm>
            <a:off x="6280190" y="5944910"/>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Service Type:</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NodePort (30080)</a:t>
            </a:r>
            <a:endParaRPr lang="en-US" sz="1400" dirty="0"/>
          </a:p>
        </p:txBody>
      </p:sp>
      <p:sp>
        <p:nvSpPr>
          <p:cNvPr id="15" name="Text 12"/>
          <p:cNvSpPr/>
          <p:nvPr/>
        </p:nvSpPr>
        <p:spPr>
          <a:xfrm>
            <a:off x="6280190" y="6298644"/>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Health Checks:</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Liveness and readiness probes configured</a:t>
            </a:r>
            <a:endParaRPr lang="en-US" sz="1400" dirty="0"/>
          </a:p>
        </p:txBody>
      </p:sp>
      <p:sp>
        <p:nvSpPr>
          <p:cNvPr id="16" name="Text 13"/>
          <p:cNvSpPr/>
          <p:nvPr/>
        </p:nvSpPr>
        <p:spPr>
          <a:xfrm>
            <a:off x="6280190" y="6942653"/>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Resource Limits:</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CPU and memory constraints applied</a:t>
            </a:r>
            <a:endParaRPr lang="en-US" sz="1400" dirty="0"/>
          </a:p>
        </p:txBody>
      </p:sp>
      <p:sp>
        <p:nvSpPr>
          <p:cNvPr id="17" name="Text 14"/>
          <p:cNvSpPr/>
          <p:nvPr/>
        </p:nvSpPr>
        <p:spPr>
          <a:xfrm>
            <a:off x="10287357" y="1663541"/>
            <a:ext cx="2721888" cy="340162"/>
          </a:xfrm>
          <a:prstGeom prst="rect">
            <a:avLst/>
          </a:prstGeom>
          <a:noFill/>
          <a:ln/>
        </p:spPr>
        <p:txBody>
          <a:bodyPr wrap="none" lIns="0" tIns="0" rIns="0" bIns="0" rtlCol="0" anchor="t"/>
          <a:lstStyle/>
          <a:p>
            <a:pPr algn="l" indent="0" marL="0">
              <a:lnSpc>
                <a:spcPts val="2650"/>
              </a:lnSpc>
              <a:buNone/>
            </a:pPr>
            <a:r>
              <a:rPr lang="en-US" sz="2100" b="1" dirty="0">
                <a:solidFill>
                  <a:srgbClr val="443728"/>
                </a:solidFill>
                <a:latin typeface="Crimson Pro Bold" pitchFamily="34" charset="0"/>
                <a:ea typeface="Crimson Pro Bold" pitchFamily="34" charset="-122"/>
                <a:cs typeface="Crimson Pro Bold" pitchFamily="34" charset="-120"/>
              </a:rPr>
              <a:t>Docker Image Details</a:t>
            </a:r>
            <a:endParaRPr lang="en-US" sz="2100" dirty="0"/>
          </a:p>
        </p:txBody>
      </p:sp>
      <p:sp>
        <p:nvSpPr>
          <p:cNvPr id="18" name="Text 15"/>
          <p:cNvSpPr/>
          <p:nvPr/>
        </p:nvSpPr>
        <p:spPr>
          <a:xfrm>
            <a:off x="10287357" y="2185154"/>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Repository:</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alitarek123/todo-list-nodejs</a:t>
            </a:r>
            <a:endParaRPr lang="en-US" sz="1400" dirty="0"/>
          </a:p>
        </p:txBody>
      </p:sp>
      <p:sp>
        <p:nvSpPr>
          <p:cNvPr id="19" name="Text 16"/>
          <p:cNvSpPr/>
          <p:nvPr/>
        </p:nvSpPr>
        <p:spPr>
          <a:xfrm>
            <a:off x="10287357" y="2829163"/>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Image Size:</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~209MB (optimized multi-stage build)</a:t>
            </a:r>
            <a:endParaRPr lang="en-US" sz="1400" dirty="0"/>
          </a:p>
        </p:txBody>
      </p:sp>
      <p:sp>
        <p:nvSpPr>
          <p:cNvPr id="20" name="Text 17"/>
          <p:cNvSpPr/>
          <p:nvPr/>
        </p:nvSpPr>
        <p:spPr>
          <a:xfrm>
            <a:off x="10287357" y="3473172"/>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Base Image:</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node:18-slim</a:t>
            </a:r>
            <a:endParaRPr lang="en-US" sz="1400" dirty="0"/>
          </a:p>
        </p:txBody>
      </p:sp>
      <p:sp>
        <p:nvSpPr>
          <p:cNvPr id="21" name="Text 18"/>
          <p:cNvSpPr/>
          <p:nvPr/>
        </p:nvSpPr>
        <p:spPr>
          <a:xfrm>
            <a:off x="10287357" y="3826907"/>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Architecture:</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linux/amd64</a:t>
            </a:r>
            <a:endParaRPr lang="en-US" sz="1400" dirty="0"/>
          </a:p>
        </p:txBody>
      </p:sp>
      <p:sp>
        <p:nvSpPr>
          <p:cNvPr id="22" name="Text 19"/>
          <p:cNvSpPr/>
          <p:nvPr/>
        </p:nvSpPr>
        <p:spPr>
          <a:xfrm>
            <a:off x="10287357" y="4180642"/>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Latest Tag:</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master-7048b27</a:t>
            </a:r>
            <a:endParaRPr lang="en-US" sz="1400" dirty="0"/>
          </a:p>
        </p:txBody>
      </p:sp>
      <p:sp>
        <p:nvSpPr>
          <p:cNvPr id="23" name="Text 20"/>
          <p:cNvSpPr/>
          <p:nvPr/>
        </p:nvSpPr>
        <p:spPr>
          <a:xfrm>
            <a:off x="10287357" y="4652367"/>
            <a:ext cx="2844403" cy="340162"/>
          </a:xfrm>
          <a:prstGeom prst="rect">
            <a:avLst/>
          </a:prstGeom>
          <a:noFill/>
          <a:ln/>
        </p:spPr>
        <p:txBody>
          <a:bodyPr wrap="none" lIns="0" tIns="0" rIns="0" bIns="0" rtlCol="0" anchor="t"/>
          <a:lstStyle/>
          <a:p>
            <a:pPr algn="l" indent="0" marL="0">
              <a:lnSpc>
                <a:spcPts val="2650"/>
              </a:lnSpc>
              <a:buNone/>
            </a:pPr>
            <a:r>
              <a:rPr lang="en-US" sz="2100" b="1" dirty="0">
                <a:solidFill>
                  <a:srgbClr val="443728"/>
                </a:solidFill>
                <a:latin typeface="Crimson Pro Bold" pitchFamily="34" charset="0"/>
                <a:ea typeface="Crimson Pro Bold" pitchFamily="34" charset="-122"/>
                <a:cs typeface="Crimson Pro Bold" pitchFamily="34" charset="-120"/>
              </a:rPr>
              <a:t>MongoDB Configuration</a:t>
            </a:r>
            <a:endParaRPr lang="en-US" sz="2100" dirty="0"/>
          </a:p>
        </p:txBody>
      </p:sp>
      <p:sp>
        <p:nvSpPr>
          <p:cNvPr id="24" name="Text 21"/>
          <p:cNvSpPr/>
          <p:nvPr/>
        </p:nvSpPr>
        <p:spPr>
          <a:xfrm>
            <a:off x="10287357" y="5173980"/>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Deployment:</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Docker container on VM (outside Kubernetes)</a:t>
            </a:r>
            <a:endParaRPr lang="en-US" sz="1400" dirty="0"/>
          </a:p>
        </p:txBody>
      </p:sp>
      <p:sp>
        <p:nvSpPr>
          <p:cNvPr id="25" name="Text 22"/>
          <p:cNvSpPr/>
          <p:nvPr/>
        </p:nvSpPr>
        <p:spPr>
          <a:xfrm>
            <a:off x="10287357" y="5817989"/>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Version: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MongoDB 7 (jammy)</a:t>
            </a:r>
            <a:endParaRPr lang="en-US" sz="1400" dirty="0"/>
          </a:p>
        </p:txBody>
      </p:sp>
      <p:sp>
        <p:nvSpPr>
          <p:cNvPr id="26" name="Text 23"/>
          <p:cNvSpPr/>
          <p:nvPr/>
        </p:nvSpPr>
        <p:spPr>
          <a:xfrm>
            <a:off x="10287357" y="6171724"/>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Port:</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27017</a:t>
            </a:r>
            <a:endParaRPr lang="en-US" sz="1400" dirty="0"/>
          </a:p>
        </p:txBody>
      </p:sp>
      <p:sp>
        <p:nvSpPr>
          <p:cNvPr id="27" name="Text 24"/>
          <p:cNvSpPr/>
          <p:nvPr/>
        </p:nvSpPr>
        <p:spPr>
          <a:xfrm>
            <a:off x="10287357" y="6525458"/>
            <a:ext cx="3556873" cy="290274"/>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Database:</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todolistDb</a:t>
            </a:r>
            <a:endParaRPr lang="en-US" sz="1400" dirty="0"/>
          </a:p>
        </p:txBody>
      </p:sp>
      <p:sp>
        <p:nvSpPr>
          <p:cNvPr id="28" name="Text 25"/>
          <p:cNvSpPr/>
          <p:nvPr/>
        </p:nvSpPr>
        <p:spPr>
          <a:xfrm>
            <a:off x="10287357" y="6879193"/>
            <a:ext cx="3556873" cy="58054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443728"/>
                </a:solidFill>
                <a:latin typeface="Open Sans" pitchFamily="34" charset="0"/>
                <a:ea typeface="Open Sans" pitchFamily="34" charset="-122"/>
                <a:cs typeface="Open Sans" pitchFamily="34" charset="-120"/>
              </a:rPr>
              <a:t>Authentication: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Enabled with credentials stored in K8s secrets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00708"/>
            <a:ext cx="3969425" cy="496133"/>
          </a:xfrm>
          <a:prstGeom prst="rect">
            <a:avLst/>
          </a:prstGeom>
          <a:noFill/>
          <a:ln/>
        </p:spPr>
        <p:txBody>
          <a:bodyPr wrap="none" lIns="0" tIns="0" rIns="0" bIns="0" rtlCol="0" anchor="t"/>
          <a:lstStyle/>
          <a:p>
            <a:pPr algn="l" indent="0" marL="0">
              <a:lnSpc>
                <a:spcPts val="3900"/>
              </a:lnSpc>
              <a:buNone/>
            </a:pPr>
            <a:r>
              <a:rPr lang="en-US" sz="3100" b="1" dirty="0">
                <a:solidFill>
                  <a:srgbClr val="443728"/>
                </a:solidFill>
                <a:latin typeface="Crimson Pro Bold" pitchFamily="34" charset="0"/>
                <a:ea typeface="Crimson Pro Bold" pitchFamily="34" charset="-122"/>
                <a:cs typeface="Crimson Pro Bold" pitchFamily="34" charset="-120"/>
              </a:rPr>
              <a:t>Troubleshooting Guide</a:t>
            </a:r>
            <a:endParaRPr lang="en-US" sz="3100" dirty="0"/>
          </a:p>
        </p:txBody>
      </p:sp>
      <p:sp>
        <p:nvSpPr>
          <p:cNvPr id="3" name="Text 1"/>
          <p:cNvSpPr/>
          <p:nvPr/>
        </p:nvSpPr>
        <p:spPr>
          <a:xfrm>
            <a:off x="793790" y="1793677"/>
            <a:ext cx="3091934" cy="297656"/>
          </a:xfrm>
          <a:prstGeom prst="rect">
            <a:avLst/>
          </a:prstGeom>
          <a:noFill/>
          <a:ln/>
        </p:spPr>
        <p:txBody>
          <a:bodyPr wrap="none" lIns="0" tIns="0" rIns="0" bIns="0" rtlCol="0" anchor="t"/>
          <a:lstStyle/>
          <a:p>
            <a:pPr algn="l" indent="0" marL="0">
              <a:lnSpc>
                <a:spcPts val="2300"/>
              </a:lnSpc>
              <a:buNone/>
            </a:pPr>
            <a:r>
              <a:rPr lang="en-US" sz="1850" b="1" dirty="0">
                <a:solidFill>
                  <a:srgbClr val="443728"/>
                </a:solidFill>
                <a:latin typeface="Crimson Pro Bold" pitchFamily="34" charset="0"/>
                <a:ea typeface="Crimson Pro Bold" pitchFamily="34" charset="-122"/>
                <a:cs typeface="Crimson Pro Bold" pitchFamily="34" charset="-120"/>
              </a:rPr>
              <a:t>If Application is Not Accessible</a:t>
            </a:r>
            <a:endParaRPr lang="en-US" sz="1850" dirty="0"/>
          </a:p>
        </p:txBody>
      </p:sp>
      <p:sp>
        <p:nvSpPr>
          <p:cNvPr id="4" name="Text 2"/>
          <p:cNvSpPr/>
          <p:nvPr/>
        </p:nvSpPr>
        <p:spPr>
          <a:xfrm>
            <a:off x="793790" y="2250043"/>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b="1" dirty="0">
                <a:solidFill>
                  <a:srgbClr val="443728"/>
                </a:solidFill>
                <a:latin typeface="Open Sans" pitchFamily="34" charset="0"/>
                <a:ea typeface="Open Sans" pitchFamily="34" charset="-122"/>
                <a:cs typeface="Open Sans" pitchFamily="34" charset="-120"/>
              </a:rPr>
              <a:t>Check minikube status:</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a:t>
            </a:r>
            <a:pPr algn="l" indent="0" marL="0">
              <a:lnSpc>
                <a:spcPts val="2000"/>
              </a:lnSpc>
              <a:buNone/>
            </a:pPr>
            <a:r>
              <a:rPr lang="en-US" sz="1250" dirty="0">
                <a:solidFill>
                  <a:srgbClr val="443728"/>
                </a:solidFill>
                <a:highlight>
                  <a:srgbClr val="F2EFED"/>
                </a:highlight>
                <a:latin typeface="Consolas" pitchFamily="34" charset="0"/>
                <a:ea typeface="Consolas" pitchFamily="34" charset="-122"/>
                <a:cs typeface="Consolas" pitchFamily="34" charset="-120"/>
              </a:rPr>
              <a:t>minikube status</a:t>
            </a:r>
            <a:endParaRPr lang="en-US" sz="1250" dirty="0"/>
          </a:p>
        </p:txBody>
      </p:sp>
      <p:sp>
        <p:nvSpPr>
          <p:cNvPr id="5" name="Text 3"/>
          <p:cNvSpPr/>
          <p:nvPr/>
        </p:nvSpPr>
        <p:spPr>
          <a:xfrm>
            <a:off x="793790" y="2559606"/>
            <a:ext cx="6327815"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443728"/>
                </a:solidFill>
                <a:latin typeface="Open Sans" pitchFamily="34" charset="0"/>
                <a:ea typeface="Open Sans" pitchFamily="34" charset="-122"/>
                <a:cs typeface="Open Sans" pitchFamily="34" charset="-120"/>
              </a:rPr>
              <a:t>Restart minikube if needed:</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a:t>
            </a:r>
            <a:pPr algn="l" indent="0" marL="0">
              <a:lnSpc>
                <a:spcPts val="2000"/>
              </a:lnSpc>
              <a:buNone/>
            </a:pPr>
            <a:r>
              <a:rPr lang="en-US" sz="1250" dirty="0">
                <a:solidFill>
                  <a:srgbClr val="443728"/>
                </a:solidFill>
                <a:highlight>
                  <a:srgbClr val="F2EFED"/>
                </a:highlight>
                <a:latin typeface="Consolas" pitchFamily="34" charset="0"/>
                <a:ea typeface="Consolas" pitchFamily="34" charset="-122"/>
                <a:cs typeface="Consolas" pitchFamily="34" charset="-120"/>
              </a:rPr>
              <a:t>minikube delete &amp;&amp; minikube start --driver=docker --cpus=2 --memory=2048 --force</a:t>
            </a:r>
            <a:endParaRPr lang="en-US" sz="1250" dirty="0"/>
          </a:p>
        </p:txBody>
      </p:sp>
      <p:sp>
        <p:nvSpPr>
          <p:cNvPr id="6" name="Text 4"/>
          <p:cNvSpPr/>
          <p:nvPr/>
        </p:nvSpPr>
        <p:spPr>
          <a:xfrm>
            <a:off x="793790" y="3123248"/>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b="1" dirty="0">
                <a:solidFill>
                  <a:srgbClr val="443728"/>
                </a:solidFill>
                <a:latin typeface="Open Sans" pitchFamily="34" charset="0"/>
                <a:ea typeface="Open Sans" pitchFamily="34" charset="-122"/>
                <a:cs typeface="Open Sans" pitchFamily="34" charset="-120"/>
              </a:rPr>
              <a:t>Reapply Kubernetes manifests:</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Use </a:t>
            </a:r>
            <a:pPr algn="l" indent="0" marL="0">
              <a:lnSpc>
                <a:spcPts val="2000"/>
              </a:lnSpc>
              <a:buNone/>
            </a:pPr>
            <a:r>
              <a:rPr lang="en-US" sz="1250" dirty="0">
                <a:solidFill>
                  <a:srgbClr val="443728"/>
                </a:solidFill>
                <a:highlight>
                  <a:srgbClr val="F2EFED"/>
                </a:highlight>
                <a:latin typeface="Consolas" pitchFamily="34" charset="0"/>
                <a:ea typeface="Consolas" pitchFamily="34" charset="-122"/>
                <a:cs typeface="Consolas" pitchFamily="34" charset="-120"/>
              </a:rPr>
              <a:t>kubectl apply -f -</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for all manifest files.</a:t>
            </a:r>
            <a:endParaRPr lang="en-US" sz="1250" dirty="0"/>
          </a:p>
        </p:txBody>
      </p:sp>
      <p:sp>
        <p:nvSpPr>
          <p:cNvPr id="7" name="Text 5"/>
          <p:cNvSpPr/>
          <p:nvPr/>
        </p:nvSpPr>
        <p:spPr>
          <a:xfrm>
            <a:off x="793790" y="3432810"/>
            <a:ext cx="6327815"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443728"/>
                </a:solidFill>
                <a:latin typeface="Open Sans" pitchFamily="34" charset="0"/>
                <a:ea typeface="Open Sans" pitchFamily="34" charset="-122"/>
                <a:cs typeface="Open Sans" pitchFamily="34" charset="-120"/>
              </a:rPr>
              <a:t>Wait for pods to be ready:</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a:t>
            </a:r>
            <a:pPr algn="l" indent="0" marL="0">
              <a:lnSpc>
                <a:spcPts val="2000"/>
              </a:lnSpc>
              <a:buNone/>
            </a:pPr>
            <a:r>
              <a:rPr lang="en-US" sz="1250" dirty="0">
                <a:solidFill>
                  <a:srgbClr val="443728"/>
                </a:solidFill>
                <a:highlight>
                  <a:srgbClr val="F2EFED"/>
                </a:highlight>
                <a:latin typeface="Consolas" pitchFamily="34" charset="0"/>
                <a:ea typeface="Consolas" pitchFamily="34" charset="-122"/>
                <a:cs typeface="Consolas" pitchFamily="34" charset="-120"/>
              </a:rPr>
              <a:t>kubectl wait --for=condition=ready pod -l app=todo-app -n todo-app --timeout=120s</a:t>
            </a:r>
            <a:endParaRPr lang="en-US" sz="1250" dirty="0"/>
          </a:p>
        </p:txBody>
      </p:sp>
      <p:pic>
        <p:nvPicPr>
          <p:cNvPr id="8" name="Image 0" descr="preencoded.png">    </p:cNvPr>
          <p:cNvPicPr>
            <a:picLocks noChangeAspect="1"/>
          </p:cNvPicPr>
          <p:nvPr/>
        </p:nvPicPr>
        <p:blipFill>
          <a:blip r:embed="rId1"/>
          <a:stretch>
            <a:fillRect/>
          </a:stretch>
        </p:blipFill>
        <p:spPr>
          <a:xfrm>
            <a:off x="793790" y="4119563"/>
            <a:ext cx="4429363" cy="3030617"/>
          </a:xfrm>
          <a:prstGeom prst="rect">
            <a:avLst/>
          </a:prstGeom>
        </p:spPr>
      </p:pic>
      <p:sp>
        <p:nvSpPr>
          <p:cNvPr id="9" name="Text 6"/>
          <p:cNvSpPr/>
          <p:nvPr/>
        </p:nvSpPr>
        <p:spPr>
          <a:xfrm>
            <a:off x="7516416" y="1793677"/>
            <a:ext cx="2381607" cy="297656"/>
          </a:xfrm>
          <a:prstGeom prst="rect">
            <a:avLst/>
          </a:prstGeom>
          <a:noFill/>
          <a:ln/>
        </p:spPr>
        <p:txBody>
          <a:bodyPr wrap="none" lIns="0" tIns="0" rIns="0" bIns="0" rtlCol="0" anchor="t"/>
          <a:lstStyle/>
          <a:p>
            <a:pPr algn="l" indent="0" marL="0">
              <a:lnSpc>
                <a:spcPts val="2300"/>
              </a:lnSpc>
              <a:buNone/>
            </a:pPr>
            <a:r>
              <a:rPr lang="en-US" sz="1850" b="1" dirty="0">
                <a:solidFill>
                  <a:srgbClr val="443728"/>
                </a:solidFill>
                <a:latin typeface="Crimson Pro Bold" pitchFamily="34" charset="0"/>
                <a:ea typeface="Crimson Pro Bold" pitchFamily="34" charset="-122"/>
                <a:cs typeface="Crimson Pro Bold" pitchFamily="34" charset="-120"/>
              </a:rPr>
              <a:t>If CI/CD Pipeline Fails</a:t>
            </a:r>
            <a:endParaRPr lang="en-US" sz="1850" dirty="0"/>
          </a:p>
        </p:txBody>
      </p:sp>
      <p:sp>
        <p:nvSpPr>
          <p:cNvPr id="10" name="Text 7"/>
          <p:cNvSpPr/>
          <p:nvPr/>
        </p:nvSpPr>
        <p:spPr>
          <a:xfrm>
            <a:off x="7516416" y="2250043"/>
            <a:ext cx="6327815" cy="254079"/>
          </a:xfrm>
          <a:prstGeom prst="rect">
            <a:avLst/>
          </a:prstGeom>
          <a:noFill/>
          <a:ln/>
        </p:spPr>
        <p:txBody>
          <a:bodyPr wrap="none" lIns="0" tIns="0" rIns="0" bIns="0" rtlCol="0" anchor="t"/>
          <a:lstStyle/>
          <a:p>
            <a:pPr algn="l" marL="342900" indent="-342900">
              <a:lnSpc>
                <a:spcPts val="2000"/>
              </a:lnSpc>
              <a:buSzPct val="100000"/>
              <a:buChar char="•"/>
            </a:pPr>
            <a:r>
              <a:rPr lang="en-US" sz="1250" b="1" dirty="0">
                <a:solidFill>
                  <a:srgbClr val="443728"/>
                </a:solidFill>
                <a:latin typeface="Open Sans" pitchFamily="34" charset="0"/>
                <a:ea typeface="Open Sans" pitchFamily="34" charset="-122"/>
                <a:cs typeface="Open Sans" pitchFamily="34" charset="-120"/>
              </a:rPr>
              <a:t>Check GitHub Actions logs:</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Review the failed workflow run details.</a:t>
            </a:r>
            <a:endParaRPr lang="en-US" sz="1250" dirty="0"/>
          </a:p>
        </p:txBody>
      </p:sp>
      <p:sp>
        <p:nvSpPr>
          <p:cNvPr id="11" name="Text 8"/>
          <p:cNvSpPr/>
          <p:nvPr/>
        </p:nvSpPr>
        <p:spPr>
          <a:xfrm>
            <a:off x="7516416" y="2559606"/>
            <a:ext cx="6327815"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443728"/>
                </a:solidFill>
                <a:latin typeface="Open Sans" pitchFamily="34" charset="0"/>
                <a:ea typeface="Open Sans" pitchFamily="34" charset="-122"/>
                <a:cs typeface="Open Sans" pitchFamily="34" charset="-120"/>
              </a:rPr>
              <a:t>Common issues:</a:t>
            </a:r>
            <a:pPr algn="l" indent="0" marL="0">
              <a:lnSpc>
                <a:spcPts val="2000"/>
              </a:lnSpc>
              <a:buNone/>
            </a:pPr>
            <a:r>
              <a:rPr lang="en-US" sz="1250" dirty="0">
                <a:solidFill>
                  <a:srgbClr val="443728"/>
                </a:solidFill>
                <a:latin typeface="Open Sans" pitchFamily="34" charset="0"/>
                <a:ea typeface="Open Sans" pitchFamily="34" charset="-122"/>
                <a:cs typeface="Open Sans" pitchFamily="34" charset="-120"/>
              </a:rPr>
              <a:t> Docker Hub credentials expiration, build timeouts due to rate limits, or Dockerfile syntax errors.</a:t>
            </a:r>
            <a:endParaRPr lang="en-US" sz="1250" dirty="0"/>
          </a:p>
        </p:txBody>
      </p:sp>
      <p:pic>
        <p:nvPicPr>
          <p:cNvPr id="12" name="Image 1" descr="preencoded.png">    </p:cNvPr>
          <p:cNvPicPr>
            <a:picLocks noChangeAspect="1"/>
          </p:cNvPicPr>
          <p:nvPr/>
        </p:nvPicPr>
        <p:blipFill>
          <a:blip r:embed="rId2"/>
          <a:stretch>
            <a:fillRect/>
          </a:stretch>
        </p:blipFill>
        <p:spPr>
          <a:xfrm>
            <a:off x="7516416" y="3246358"/>
            <a:ext cx="4429363" cy="30306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78788"/>
            <a:ext cx="4712732"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Issues Faced &amp; Solutions</a:t>
            </a:r>
            <a:endParaRPr lang="en-US" sz="3550" dirty="0"/>
          </a:p>
        </p:txBody>
      </p:sp>
      <p:pic>
        <p:nvPicPr>
          <p:cNvPr id="3" name="Image 0" descr="preencoded.png">    </p:cNvPr>
          <p:cNvPicPr>
            <a:picLocks noChangeAspect="1"/>
          </p:cNvPicPr>
          <p:nvPr/>
        </p:nvPicPr>
        <p:blipFill>
          <a:blip r:embed="rId1"/>
          <a:stretch>
            <a:fillRect/>
          </a:stretch>
        </p:blipFill>
        <p:spPr>
          <a:xfrm>
            <a:off x="793790" y="1708666"/>
            <a:ext cx="6430685" cy="2533174"/>
          </a:xfrm>
          <a:prstGeom prst="rect">
            <a:avLst/>
          </a:prstGeom>
        </p:spPr>
      </p:pic>
      <p:sp>
        <p:nvSpPr>
          <p:cNvPr id="4" name="Text 1"/>
          <p:cNvSpPr/>
          <p:nvPr/>
        </p:nvSpPr>
        <p:spPr>
          <a:xfrm>
            <a:off x="975241" y="1890117"/>
            <a:ext cx="3167777" cy="283488"/>
          </a:xfrm>
          <a:prstGeom prst="rect">
            <a:avLst/>
          </a:prstGeom>
          <a:noFill/>
          <a:ln/>
        </p:spPr>
        <p:txBody>
          <a:bodyPr wrap="none" lIns="0" tIns="0" rIns="0" bIns="0" rtlCol="0" anchor="t"/>
          <a:lstStyle/>
          <a:p>
            <a:pPr algn="l" indent="0" marL="0">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Issue 1: Disk Space Critically Low</a:t>
            </a:r>
            <a:endParaRPr lang="en-US" sz="1750" dirty="0"/>
          </a:p>
        </p:txBody>
      </p:sp>
      <p:sp>
        <p:nvSpPr>
          <p:cNvPr id="5" name="Text 2"/>
          <p:cNvSpPr/>
          <p:nvPr/>
        </p:nvSpPr>
        <p:spPr>
          <a:xfrm>
            <a:off x="975241" y="2282428"/>
            <a:ext cx="6067782" cy="290274"/>
          </a:xfrm>
          <a:prstGeom prst="rect">
            <a:avLst/>
          </a:prstGeom>
          <a:noFill/>
          <a:ln/>
        </p:spPr>
        <p:txBody>
          <a:bodyPr wrap="non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Problem:</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VM disk at 98% capacity, preventing minikube from starting.</a:t>
            </a:r>
            <a:endParaRPr lang="en-US" sz="1400" dirty="0"/>
          </a:p>
        </p:txBody>
      </p:sp>
      <p:sp>
        <p:nvSpPr>
          <p:cNvPr id="6" name="Text 3"/>
          <p:cNvSpPr/>
          <p:nvPr/>
        </p:nvSpPr>
        <p:spPr>
          <a:xfrm>
            <a:off x="975241" y="2681526"/>
            <a:ext cx="6067782" cy="580549"/>
          </a:xfrm>
          <a:prstGeom prst="rect">
            <a:avLst/>
          </a:prstGeom>
          <a:noFill/>
          <a:ln/>
        </p:spPr>
        <p:txBody>
          <a:bodyPr wrap="squar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Solution: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Cleaned Docker system, removed minikube cache, trimmed journal logs, and cleaned apt cache, freeing ~1GB of disk space.</a:t>
            </a:r>
            <a:endParaRPr lang="en-US" sz="1400" dirty="0"/>
          </a:p>
        </p:txBody>
      </p:sp>
      <p:pic>
        <p:nvPicPr>
          <p:cNvPr id="7" name="Image 1" descr="preencoded.png">    </p:cNvPr>
          <p:cNvPicPr>
            <a:picLocks noChangeAspect="1"/>
          </p:cNvPicPr>
          <p:nvPr/>
        </p:nvPicPr>
        <p:blipFill>
          <a:blip r:embed="rId2"/>
          <a:stretch>
            <a:fillRect/>
          </a:stretch>
        </p:blipFill>
        <p:spPr>
          <a:xfrm>
            <a:off x="7405926" y="1708666"/>
            <a:ext cx="6430685" cy="2533174"/>
          </a:xfrm>
          <a:prstGeom prst="rect">
            <a:avLst/>
          </a:prstGeom>
        </p:spPr>
      </p:pic>
      <p:sp>
        <p:nvSpPr>
          <p:cNvPr id="8" name="Text 4"/>
          <p:cNvSpPr/>
          <p:nvPr/>
        </p:nvSpPr>
        <p:spPr>
          <a:xfrm>
            <a:off x="7587377" y="1890117"/>
            <a:ext cx="3007043" cy="283488"/>
          </a:xfrm>
          <a:prstGeom prst="rect">
            <a:avLst/>
          </a:prstGeom>
          <a:noFill/>
          <a:ln/>
        </p:spPr>
        <p:txBody>
          <a:bodyPr wrap="none" lIns="0" tIns="0" rIns="0" bIns="0" rtlCol="0" anchor="t"/>
          <a:lstStyle/>
          <a:p>
            <a:pPr algn="l" indent="0" marL="0">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Issue 2: MongoDB Connectivity</a:t>
            </a:r>
            <a:endParaRPr lang="en-US" sz="1750" dirty="0"/>
          </a:p>
        </p:txBody>
      </p:sp>
      <p:sp>
        <p:nvSpPr>
          <p:cNvPr id="9" name="Text 5"/>
          <p:cNvSpPr/>
          <p:nvPr/>
        </p:nvSpPr>
        <p:spPr>
          <a:xfrm>
            <a:off x="7587377" y="2282428"/>
            <a:ext cx="6067782" cy="580549"/>
          </a:xfrm>
          <a:prstGeom prst="rect">
            <a:avLst/>
          </a:prstGeom>
          <a:noFill/>
          <a:ln/>
        </p:spPr>
        <p:txBody>
          <a:bodyPr wrap="squar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Problem:</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Application pods couldn't connect to MongoDB on VM host due to network isolation.</a:t>
            </a:r>
            <a:endParaRPr lang="en-US" sz="1400" dirty="0"/>
          </a:p>
        </p:txBody>
      </p:sp>
      <p:sp>
        <p:nvSpPr>
          <p:cNvPr id="10" name="Text 6"/>
          <p:cNvSpPr/>
          <p:nvPr/>
        </p:nvSpPr>
        <p:spPr>
          <a:xfrm>
            <a:off x="7587377" y="2971800"/>
            <a:ext cx="6067782" cy="870823"/>
          </a:xfrm>
          <a:prstGeom prst="rect">
            <a:avLst/>
          </a:prstGeom>
          <a:noFill/>
          <a:ln/>
        </p:spPr>
        <p:txBody>
          <a:bodyPr wrap="squar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Solution: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Deployed MongoDB inside Kubernetes with PersistentVolumeClaim, Deployment, and ClusterIP Service, resolving cross-network communication issues.</a:t>
            </a:r>
            <a:endParaRPr lang="en-US" sz="1400" dirty="0"/>
          </a:p>
        </p:txBody>
      </p:sp>
      <p:pic>
        <p:nvPicPr>
          <p:cNvPr id="11" name="Image 2" descr="preencoded.png">    </p:cNvPr>
          <p:cNvPicPr>
            <a:picLocks noChangeAspect="1"/>
          </p:cNvPicPr>
          <p:nvPr/>
        </p:nvPicPr>
        <p:blipFill>
          <a:blip r:embed="rId3"/>
          <a:stretch>
            <a:fillRect/>
          </a:stretch>
        </p:blipFill>
        <p:spPr>
          <a:xfrm>
            <a:off x="793790" y="4423291"/>
            <a:ext cx="6430685" cy="2242899"/>
          </a:xfrm>
          <a:prstGeom prst="rect">
            <a:avLst/>
          </a:prstGeom>
        </p:spPr>
      </p:pic>
      <p:sp>
        <p:nvSpPr>
          <p:cNvPr id="12" name="Text 7"/>
          <p:cNvSpPr/>
          <p:nvPr/>
        </p:nvSpPr>
        <p:spPr>
          <a:xfrm>
            <a:off x="975241" y="4604742"/>
            <a:ext cx="2758083" cy="283488"/>
          </a:xfrm>
          <a:prstGeom prst="rect">
            <a:avLst/>
          </a:prstGeom>
          <a:noFill/>
          <a:ln/>
        </p:spPr>
        <p:txBody>
          <a:bodyPr wrap="none" lIns="0" tIns="0" rIns="0" bIns="0" rtlCol="0" anchor="t"/>
          <a:lstStyle/>
          <a:p>
            <a:pPr algn="l" indent="0" marL="0">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Issue 3: Secret Key Mismatch</a:t>
            </a:r>
            <a:endParaRPr lang="en-US" sz="1750" dirty="0"/>
          </a:p>
        </p:txBody>
      </p:sp>
      <p:sp>
        <p:nvSpPr>
          <p:cNvPr id="13" name="Text 8"/>
          <p:cNvSpPr/>
          <p:nvPr/>
        </p:nvSpPr>
        <p:spPr>
          <a:xfrm>
            <a:off x="975241" y="4997053"/>
            <a:ext cx="6067782" cy="290274"/>
          </a:xfrm>
          <a:prstGeom prst="rect">
            <a:avLst/>
          </a:prstGeom>
          <a:noFill/>
          <a:ln/>
        </p:spPr>
        <p:txBody>
          <a:bodyPr wrap="non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Problem:</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MongoDB pod failing due to incorrect secret key references.</a:t>
            </a:r>
            <a:endParaRPr lang="en-US" sz="1400" dirty="0"/>
          </a:p>
        </p:txBody>
      </p:sp>
      <p:sp>
        <p:nvSpPr>
          <p:cNvPr id="14" name="Text 9"/>
          <p:cNvSpPr/>
          <p:nvPr/>
        </p:nvSpPr>
        <p:spPr>
          <a:xfrm>
            <a:off x="975241" y="5396151"/>
            <a:ext cx="6067782" cy="580549"/>
          </a:xfrm>
          <a:prstGeom prst="rect">
            <a:avLst/>
          </a:prstGeom>
          <a:noFill/>
          <a:ln/>
        </p:spPr>
        <p:txBody>
          <a:bodyPr wrap="squar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Solution: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Corrected environment variable references in </a:t>
            </a:r>
            <a:pPr algn="l" indent="0" marL="0">
              <a:lnSpc>
                <a:spcPts val="2250"/>
              </a:lnSpc>
              <a:buNone/>
            </a:pPr>
            <a:r>
              <a:rPr lang="en-US" sz="1400" dirty="0">
                <a:solidFill>
                  <a:srgbClr val="443728"/>
                </a:solidFill>
                <a:highlight>
                  <a:srgbClr val="F2EFED"/>
                </a:highlight>
                <a:latin typeface="Consolas" pitchFamily="34" charset="0"/>
                <a:ea typeface="Consolas" pitchFamily="34" charset="-122"/>
                <a:cs typeface="Consolas" pitchFamily="34" charset="-120"/>
              </a:rPr>
              <a:t>mongodb-deployment.yaml</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to match Kubernetes secret keys.</a:t>
            </a:r>
            <a:endParaRPr lang="en-US" sz="1400" dirty="0"/>
          </a:p>
        </p:txBody>
      </p:sp>
      <p:pic>
        <p:nvPicPr>
          <p:cNvPr id="15" name="Image 3" descr="preencoded.png">    </p:cNvPr>
          <p:cNvPicPr>
            <a:picLocks noChangeAspect="1"/>
          </p:cNvPicPr>
          <p:nvPr/>
        </p:nvPicPr>
        <p:blipFill>
          <a:blip r:embed="rId4"/>
          <a:stretch>
            <a:fillRect/>
          </a:stretch>
        </p:blipFill>
        <p:spPr>
          <a:xfrm>
            <a:off x="7405926" y="4423291"/>
            <a:ext cx="6430685" cy="2242899"/>
          </a:xfrm>
          <a:prstGeom prst="rect">
            <a:avLst/>
          </a:prstGeom>
        </p:spPr>
      </p:pic>
      <p:sp>
        <p:nvSpPr>
          <p:cNvPr id="16" name="Text 10"/>
          <p:cNvSpPr/>
          <p:nvPr/>
        </p:nvSpPr>
        <p:spPr>
          <a:xfrm>
            <a:off x="7587377" y="4604742"/>
            <a:ext cx="3423047" cy="283488"/>
          </a:xfrm>
          <a:prstGeom prst="rect">
            <a:avLst/>
          </a:prstGeom>
          <a:noFill/>
          <a:ln/>
        </p:spPr>
        <p:txBody>
          <a:bodyPr wrap="none" lIns="0" tIns="0" rIns="0" bIns="0" rtlCol="0" anchor="t"/>
          <a:lstStyle/>
          <a:p>
            <a:pPr algn="l" indent="0" marL="0">
              <a:lnSpc>
                <a:spcPts val="2200"/>
              </a:lnSpc>
              <a:buNone/>
            </a:pPr>
            <a:r>
              <a:rPr lang="en-US" sz="1750" b="1" dirty="0">
                <a:solidFill>
                  <a:srgbClr val="443728"/>
                </a:solidFill>
                <a:latin typeface="Crimson Pro Bold" pitchFamily="34" charset="0"/>
                <a:ea typeface="Crimson Pro Bold" pitchFamily="34" charset="-122"/>
                <a:cs typeface="Crimson Pro Bold" pitchFamily="34" charset="-120"/>
              </a:rPr>
              <a:t>Issue 4: External Application Access</a:t>
            </a:r>
            <a:endParaRPr lang="en-US" sz="1750" dirty="0"/>
          </a:p>
        </p:txBody>
      </p:sp>
      <p:sp>
        <p:nvSpPr>
          <p:cNvPr id="17" name="Text 11"/>
          <p:cNvSpPr/>
          <p:nvPr/>
        </p:nvSpPr>
        <p:spPr>
          <a:xfrm>
            <a:off x="7587377" y="4997053"/>
            <a:ext cx="6067782" cy="580549"/>
          </a:xfrm>
          <a:prstGeom prst="rect">
            <a:avLst/>
          </a:prstGeom>
          <a:noFill/>
          <a:ln/>
        </p:spPr>
        <p:txBody>
          <a:bodyPr wrap="squar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Problem:</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Application accessible inside minikube but not from outside the VM.</a:t>
            </a:r>
            <a:endParaRPr lang="en-US" sz="1400" dirty="0"/>
          </a:p>
        </p:txBody>
      </p:sp>
      <p:sp>
        <p:nvSpPr>
          <p:cNvPr id="18" name="Text 12"/>
          <p:cNvSpPr/>
          <p:nvPr/>
        </p:nvSpPr>
        <p:spPr>
          <a:xfrm>
            <a:off x="7587377" y="5686425"/>
            <a:ext cx="6067782" cy="580549"/>
          </a:xfrm>
          <a:prstGeom prst="rect">
            <a:avLst/>
          </a:prstGeom>
          <a:noFill/>
          <a:ln/>
        </p:spPr>
        <p:txBody>
          <a:bodyPr wrap="square" lIns="0" tIns="0" rIns="0" bIns="0" rtlCol="0" anchor="t"/>
          <a:lstStyle/>
          <a:p>
            <a:pPr algn="l" indent="0" marL="0">
              <a:lnSpc>
                <a:spcPts val="2250"/>
              </a:lnSpc>
              <a:buNone/>
            </a:pPr>
            <a:r>
              <a:rPr lang="en-US" sz="1400" b="1" dirty="0">
                <a:solidFill>
                  <a:srgbClr val="443728"/>
                </a:solidFill>
                <a:latin typeface="Open Sans" pitchFamily="34" charset="0"/>
                <a:ea typeface="Open Sans" pitchFamily="34" charset="-122"/>
                <a:cs typeface="Open Sans" pitchFamily="34" charset="-120"/>
              </a:rPr>
              <a:t>Solution:</a:t>
            </a:r>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 Configured iptables NAT rules to forward VM IP traffic to minikube's NodePort, enabling external access.</a:t>
            </a:r>
            <a:endParaRPr lang="en-US" sz="1400" dirty="0"/>
          </a:p>
        </p:txBody>
      </p:sp>
      <p:sp>
        <p:nvSpPr>
          <p:cNvPr id="19" name="Text 13"/>
          <p:cNvSpPr/>
          <p:nvPr/>
        </p:nvSpPr>
        <p:spPr>
          <a:xfrm>
            <a:off x="793790" y="6870263"/>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Each challenge presented an opportunity to deepen our understanding of DevOps principles, from resource management to network configuration and secure credential handling. The iterative process of identifying, diagnosing, and resolving these issues was crucial to the project's success.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85349"/>
            <a:ext cx="7057311" cy="460772"/>
          </a:xfrm>
          <a:prstGeom prst="rect">
            <a:avLst/>
          </a:prstGeom>
          <a:noFill/>
          <a:ln/>
        </p:spPr>
        <p:txBody>
          <a:bodyPr wrap="none" lIns="0" tIns="0" rIns="0" bIns="0" rtlCol="0" anchor="t"/>
          <a:lstStyle/>
          <a:p>
            <a:pPr algn="l" indent="0" marL="0">
              <a:lnSpc>
                <a:spcPts val="3600"/>
              </a:lnSpc>
              <a:buNone/>
            </a:pPr>
            <a:r>
              <a:rPr lang="en-US" sz="2900" b="1" dirty="0">
                <a:solidFill>
                  <a:srgbClr val="443728"/>
                </a:solidFill>
                <a:latin typeface="Crimson Pro Bold" pitchFamily="34" charset="0"/>
                <a:ea typeface="Crimson Pro Bold" pitchFamily="34" charset="-122"/>
                <a:cs typeface="Crimson Pro Bold" pitchFamily="34" charset="-120"/>
              </a:rPr>
              <a:t>Security Considerations &amp; Technologies Used</a:t>
            </a:r>
            <a:endParaRPr lang="en-US" sz="2900" dirty="0"/>
          </a:p>
        </p:txBody>
      </p:sp>
      <p:sp>
        <p:nvSpPr>
          <p:cNvPr id="3" name="Text 1"/>
          <p:cNvSpPr/>
          <p:nvPr/>
        </p:nvSpPr>
        <p:spPr>
          <a:xfrm>
            <a:off x="793790" y="1714619"/>
            <a:ext cx="4029908" cy="368618"/>
          </a:xfrm>
          <a:prstGeom prst="rect">
            <a:avLst/>
          </a:prstGeom>
          <a:noFill/>
          <a:ln/>
        </p:spPr>
        <p:txBody>
          <a:bodyPr wrap="none" lIns="0" tIns="0" rIns="0" bIns="0" rtlCol="0" anchor="t"/>
          <a:lstStyle/>
          <a:p>
            <a:pPr algn="l" indent="0" marL="0">
              <a:lnSpc>
                <a:spcPts val="2900"/>
              </a:lnSpc>
              <a:buNone/>
            </a:pPr>
            <a:r>
              <a:rPr lang="en-US" sz="2300" b="1" dirty="0">
                <a:solidFill>
                  <a:srgbClr val="443728"/>
                </a:solidFill>
                <a:latin typeface="Crimson Pro Bold" pitchFamily="34" charset="0"/>
                <a:ea typeface="Crimson Pro Bold" pitchFamily="34" charset="-122"/>
                <a:cs typeface="Crimson Pro Bold" pitchFamily="34" charset="-120"/>
              </a:rPr>
              <a:t>Implemented Security Measures</a:t>
            </a:r>
            <a:endParaRPr lang="en-US" sz="2300" dirty="0"/>
          </a:p>
        </p:txBody>
      </p:sp>
      <p:sp>
        <p:nvSpPr>
          <p:cNvPr id="4" name="Shape 2"/>
          <p:cNvSpPr/>
          <p:nvPr/>
        </p:nvSpPr>
        <p:spPr>
          <a:xfrm>
            <a:off x="793790" y="2249091"/>
            <a:ext cx="6341626" cy="1174552"/>
          </a:xfrm>
          <a:prstGeom prst="roundRect">
            <a:avLst>
              <a:gd name="adj" fmla="val 5272"/>
            </a:avLst>
          </a:prstGeom>
          <a:solidFill>
            <a:srgbClr val="FFFCFA"/>
          </a:solidFill>
          <a:ln w="15240">
            <a:solidFill>
              <a:srgbClr val="D1C8C6"/>
            </a:solidFill>
            <a:prstDash val="solid"/>
          </a:ln>
        </p:spPr>
      </p:sp>
      <p:sp>
        <p:nvSpPr>
          <p:cNvPr id="5" name="Text 3"/>
          <p:cNvSpPr/>
          <p:nvPr/>
        </p:nvSpPr>
        <p:spPr>
          <a:xfrm>
            <a:off x="956429" y="2411730"/>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443728"/>
                </a:solidFill>
                <a:latin typeface="Crimson Pro Bold" pitchFamily="34" charset="0"/>
                <a:ea typeface="Crimson Pro Bold" pitchFamily="34" charset="-122"/>
                <a:cs typeface="Crimson Pro Bold" pitchFamily="34" charset="-120"/>
              </a:rPr>
              <a:t>Container Hardening</a:t>
            </a:r>
            <a:endParaRPr lang="en-US" sz="1450" dirty="0"/>
          </a:p>
        </p:txBody>
      </p:sp>
      <p:sp>
        <p:nvSpPr>
          <p:cNvPr id="6" name="Text 4"/>
          <p:cNvSpPr/>
          <p:nvPr/>
        </p:nvSpPr>
        <p:spPr>
          <a:xfrm>
            <a:off x="956429" y="2789515"/>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Non-root container user, dropped Linux capabilities, and no privilege escalation allowed.</a:t>
            </a:r>
            <a:endParaRPr lang="en-US" sz="1150" dirty="0"/>
          </a:p>
        </p:txBody>
      </p:sp>
      <p:sp>
        <p:nvSpPr>
          <p:cNvPr id="7" name="Shape 5"/>
          <p:cNvSpPr/>
          <p:nvPr/>
        </p:nvSpPr>
        <p:spPr>
          <a:xfrm>
            <a:off x="793790" y="3571042"/>
            <a:ext cx="6341626" cy="1174552"/>
          </a:xfrm>
          <a:prstGeom prst="roundRect">
            <a:avLst>
              <a:gd name="adj" fmla="val 5272"/>
            </a:avLst>
          </a:prstGeom>
          <a:solidFill>
            <a:srgbClr val="FFFCFA"/>
          </a:solidFill>
          <a:ln w="15240">
            <a:solidFill>
              <a:srgbClr val="D1C8C6"/>
            </a:solidFill>
            <a:prstDash val="solid"/>
          </a:ln>
        </p:spPr>
      </p:sp>
      <p:sp>
        <p:nvSpPr>
          <p:cNvPr id="8" name="Text 6"/>
          <p:cNvSpPr/>
          <p:nvPr/>
        </p:nvSpPr>
        <p:spPr>
          <a:xfrm>
            <a:off x="956429" y="3733681"/>
            <a:ext cx="1954054" cy="230386"/>
          </a:xfrm>
          <a:prstGeom prst="rect">
            <a:avLst/>
          </a:prstGeom>
          <a:noFill/>
          <a:ln/>
        </p:spPr>
        <p:txBody>
          <a:bodyPr wrap="none" lIns="0" tIns="0" rIns="0" bIns="0" rtlCol="0" anchor="t"/>
          <a:lstStyle/>
          <a:p>
            <a:pPr algn="l" indent="0" marL="0">
              <a:lnSpc>
                <a:spcPts val="1800"/>
              </a:lnSpc>
              <a:buNone/>
            </a:pPr>
            <a:r>
              <a:rPr lang="en-US" sz="1450" b="1" dirty="0">
                <a:solidFill>
                  <a:srgbClr val="443728"/>
                </a:solidFill>
                <a:latin typeface="Crimson Pro Bold" pitchFamily="34" charset="0"/>
                <a:ea typeface="Crimson Pro Bold" pitchFamily="34" charset="-122"/>
                <a:cs typeface="Crimson Pro Bold" pitchFamily="34" charset="-120"/>
              </a:rPr>
              <a:t>Authentication &amp; Secrets</a:t>
            </a:r>
            <a:endParaRPr lang="en-US" sz="1450" dirty="0"/>
          </a:p>
        </p:txBody>
      </p:sp>
      <p:sp>
        <p:nvSpPr>
          <p:cNvPr id="9" name="Text 7"/>
          <p:cNvSpPr/>
          <p:nvPr/>
        </p:nvSpPr>
        <p:spPr>
          <a:xfrm>
            <a:off x="956429" y="4111466"/>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MongoDB authentication enabled, credentials stored securely in Kubernetes Secrets and GitHub secrets for CI/CD.</a:t>
            </a:r>
            <a:endParaRPr lang="en-US" sz="1150" dirty="0"/>
          </a:p>
        </p:txBody>
      </p:sp>
      <p:sp>
        <p:nvSpPr>
          <p:cNvPr id="10" name="Shape 8"/>
          <p:cNvSpPr/>
          <p:nvPr/>
        </p:nvSpPr>
        <p:spPr>
          <a:xfrm>
            <a:off x="793790" y="4892993"/>
            <a:ext cx="6341626" cy="1174552"/>
          </a:xfrm>
          <a:prstGeom prst="roundRect">
            <a:avLst>
              <a:gd name="adj" fmla="val 5272"/>
            </a:avLst>
          </a:prstGeom>
          <a:solidFill>
            <a:srgbClr val="FFFCFA"/>
          </a:solidFill>
          <a:ln w="15240">
            <a:solidFill>
              <a:srgbClr val="D1C8C6"/>
            </a:solidFill>
            <a:prstDash val="solid"/>
          </a:ln>
        </p:spPr>
      </p:sp>
      <p:sp>
        <p:nvSpPr>
          <p:cNvPr id="11" name="Text 9"/>
          <p:cNvSpPr/>
          <p:nvPr/>
        </p:nvSpPr>
        <p:spPr>
          <a:xfrm>
            <a:off x="956429" y="5055632"/>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443728"/>
                </a:solidFill>
                <a:latin typeface="Crimson Pro Bold" pitchFamily="34" charset="0"/>
                <a:ea typeface="Crimson Pro Bold" pitchFamily="34" charset="-122"/>
                <a:cs typeface="Crimson Pro Bold" pitchFamily="34" charset="-120"/>
              </a:rPr>
              <a:t>Infrastructure Security</a:t>
            </a:r>
            <a:endParaRPr lang="en-US" sz="1450" dirty="0"/>
          </a:p>
        </p:txBody>
      </p:sp>
      <p:sp>
        <p:nvSpPr>
          <p:cNvPr id="12" name="Text 10"/>
          <p:cNvSpPr/>
          <p:nvPr/>
        </p:nvSpPr>
        <p:spPr>
          <a:xfrm>
            <a:off x="956429" y="5433417"/>
            <a:ext cx="6016347" cy="471488"/>
          </a:xfrm>
          <a:prstGeom prst="rect">
            <a:avLst/>
          </a:prstGeom>
          <a:noFill/>
          <a:ln/>
        </p:spPr>
        <p:txBody>
          <a:bodyPr wrap="squar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SSH key-based authentication for Ansible automation, and resource limits to prevent exhaustion.</a:t>
            </a:r>
            <a:endParaRPr lang="en-US" sz="1150" dirty="0"/>
          </a:p>
        </p:txBody>
      </p:sp>
      <p:sp>
        <p:nvSpPr>
          <p:cNvPr id="13" name="Text 11"/>
          <p:cNvSpPr/>
          <p:nvPr/>
        </p:nvSpPr>
        <p:spPr>
          <a:xfrm>
            <a:off x="7502604" y="1714619"/>
            <a:ext cx="3338393" cy="368618"/>
          </a:xfrm>
          <a:prstGeom prst="rect">
            <a:avLst/>
          </a:prstGeom>
          <a:noFill/>
          <a:ln/>
        </p:spPr>
        <p:txBody>
          <a:bodyPr wrap="none" lIns="0" tIns="0" rIns="0" bIns="0" rtlCol="0" anchor="t"/>
          <a:lstStyle/>
          <a:p>
            <a:pPr algn="l" indent="0" marL="0">
              <a:lnSpc>
                <a:spcPts val="2900"/>
              </a:lnSpc>
              <a:buNone/>
            </a:pPr>
            <a:r>
              <a:rPr lang="en-US" sz="2300" b="1" dirty="0">
                <a:solidFill>
                  <a:srgbClr val="443728"/>
                </a:solidFill>
                <a:latin typeface="Crimson Pro Bold" pitchFamily="34" charset="0"/>
                <a:ea typeface="Crimson Pro Bold" pitchFamily="34" charset="-122"/>
                <a:cs typeface="Crimson Pro Bold" pitchFamily="34" charset="-120"/>
              </a:rPr>
              <a:t>Technologies &amp; Tools Used</a:t>
            </a:r>
            <a:endParaRPr lang="en-US" sz="2300" dirty="0"/>
          </a:p>
        </p:txBody>
      </p:sp>
      <p:sp>
        <p:nvSpPr>
          <p:cNvPr id="14" name="Shape 12"/>
          <p:cNvSpPr/>
          <p:nvPr/>
        </p:nvSpPr>
        <p:spPr>
          <a:xfrm>
            <a:off x="7502604" y="2249091"/>
            <a:ext cx="6341626" cy="4291965"/>
          </a:xfrm>
          <a:prstGeom prst="roundRect">
            <a:avLst>
              <a:gd name="adj" fmla="val 1443"/>
            </a:avLst>
          </a:prstGeom>
          <a:noFill/>
          <a:ln w="7620">
            <a:solidFill>
              <a:srgbClr val="000000">
                <a:alpha val="8000"/>
              </a:srgbClr>
            </a:solidFill>
            <a:prstDash val="solid"/>
          </a:ln>
        </p:spPr>
      </p:sp>
      <p:sp>
        <p:nvSpPr>
          <p:cNvPr id="15" name="Shape 13"/>
          <p:cNvSpPr/>
          <p:nvPr/>
        </p:nvSpPr>
        <p:spPr>
          <a:xfrm>
            <a:off x="7510224" y="2256711"/>
            <a:ext cx="6326386" cy="427673"/>
          </a:xfrm>
          <a:prstGeom prst="rect">
            <a:avLst/>
          </a:prstGeom>
          <a:solidFill>
            <a:srgbClr val="FFFFFF">
              <a:alpha val="4000"/>
            </a:srgbClr>
          </a:solidFill>
          <a:ln/>
        </p:spPr>
      </p:sp>
      <p:sp>
        <p:nvSpPr>
          <p:cNvPr id="16" name="Text 14"/>
          <p:cNvSpPr/>
          <p:nvPr/>
        </p:nvSpPr>
        <p:spPr>
          <a:xfrm>
            <a:off x="7657743" y="2352675"/>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Application</a:t>
            </a:r>
            <a:endParaRPr lang="en-US" sz="1150" dirty="0"/>
          </a:p>
        </p:txBody>
      </p:sp>
      <p:sp>
        <p:nvSpPr>
          <p:cNvPr id="17" name="Text 15"/>
          <p:cNvSpPr/>
          <p:nvPr/>
        </p:nvSpPr>
        <p:spPr>
          <a:xfrm>
            <a:off x="9559409" y="2352675"/>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Node.js</a:t>
            </a:r>
            <a:endParaRPr lang="en-US" sz="1150" dirty="0"/>
          </a:p>
        </p:txBody>
      </p:sp>
      <p:sp>
        <p:nvSpPr>
          <p:cNvPr id="18" name="Text 16"/>
          <p:cNvSpPr/>
          <p:nvPr/>
        </p:nvSpPr>
        <p:spPr>
          <a:xfrm>
            <a:off x="12089963" y="2352675"/>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18</a:t>
            </a:r>
            <a:endParaRPr lang="en-US" sz="1150" dirty="0"/>
          </a:p>
        </p:txBody>
      </p:sp>
      <p:sp>
        <p:nvSpPr>
          <p:cNvPr id="19" name="Shape 17"/>
          <p:cNvSpPr/>
          <p:nvPr/>
        </p:nvSpPr>
        <p:spPr>
          <a:xfrm>
            <a:off x="7510224" y="2684383"/>
            <a:ext cx="6326386" cy="427673"/>
          </a:xfrm>
          <a:prstGeom prst="rect">
            <a:avLst/>
          </a:prstGeom>
          <a:solidFill>
            <a:srgbClr val="000000">
              <a:alpha val="4000"/>
            </a:srgbClr>
          </a:solidFill>
          <a:ln/>
        </p:spPr>
      </p:sp>
      <p:sp>
        <p:nvSpPr>
          <p:cNvPr id="20" name="Text 18"/>
          <p:cNvSpPr/>
          <p:nvPr/>
        </p:nvSpPr>
        <p:spPr>
          <a:xfrm>
            <a:off x="7657743" y="2780347"/>
            <a:ext cx="1599248" cy="235744"/>
          </a:xfrm>
          <a:prstGeom prst="rect">
            <a:avLst/>
          </a:prstGeom>
          <a:noFill/>
          <a:ln/>
        </p:spPr>
        <p:txBody>
          <a:bodyPr wrap="none" lIns="0" tIns="0" rIns="0" bIns="0" rtlCol="0" anchor="t"/>
          <a:lstStyle/>
          <a:p>
            <a:pPr algn="l" indent="0" marL="0">
              <a:lnSpc>
                <a:spcPts val="1850"/>
              </a:lnSpc>
              <a:buNone/>
            </a:pPr>
            <a:endParaRPr lang="en-US" sz="1150" dirty="0"/>
          </a:p>
        </p:txBody>
      </p:sp>
      <p:sp>
        <p:nvSpPr>
          <p:cNvPr id="21" name="Text 19"/>
          <p:cNvSpPr/>
          <p:nvPr/>
        </p:nvSpPr>
        <p:spPr>
          <a:xfrm>
            <a:off x="9559409" y="2780347"/>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Express.js</a:t>
            </a:r>
            <a:endParaRPr lang="en-US" sz="1150" dirty="0"/>
          </a:p>
        </p:txBody>
      </p:sp>
      <p:sp>
        <p:nvSpPr>
          <p:cNvPr id="22" name="Text 20"/>
          <p:cNvSpPr/>
          <p:nvPr/>
        </p:nvSpPr>
        <p:spPr>
          <a:xfrm>
            <a:off x="12089963" y="2780347"/>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Latest</a:t>
            </a:r>
            <a:endParaRPr lang="en-US" sz="1150" dirty="0"/>
          </a:p>
        </p:txBody>
      </p:sp>
      <p:sp>
        <p:nvSpPr>
          <p:cNvPr id="23" name="Shape 21"/>
          <p:cNvSpPr/>
          <p:nvPr/>
        </p:nvSpPr>
        <p:spPr>
          <a:xfrm>
            <a:off x="7510224" y="3112056"/>
            <a:ext cx="6326386" cy="427673"/>
          </a:xfrm>
          <a:prstGeom prst="rect">
            <a:avLst/>
          </a:prstGeom>
          <a:solidFill>
            <a:srgbClr val="FFFFFF">
              <a:alpha val="4000"/>
            </a:srgbClr>
          </a:solidFill>
          <a:ln/>
        </p:spPr>
      </p:sp>
      <p:sp>
        <p:nvSpPr>
          <p:cNvPr id="24" name="Text 22"/>
          <p:cNvSpPr/>
          <p:nvPr/>
        </p:nvSpPr>
        <p:spPr>
          <a:xfrm>
            <a:off x="7657743" y="3208020"/>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Database</a:t>
            </a:r>
            <a:endParaRPr lang="en-US" sz="1150" dirty="0"/>
          </a:p>
        </p:txBody>
      </p:sp>
      <p:sp>
        <p:nvSpPr>
          <p:cNvPr id="25" name="Text 23"/>
          <p:cNvSpPr/>
          <p:nvPr/>
        </p:nvSpPr>
        <p:spPr>
          <a:xfrm>
            <a:off x="9559409" y="3208020"/>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MongoDB</a:t>
            </a:r>
            <a:endParaRPr lang="en-US" sz="1150" dirty="0"/>
          </a:p>
        </p:txBody>
      </p:sp>
      <p:sp>
        <p:nvSpPr>
          <p:cNvPr id="26" name="Text 24"/>
          <p:cNvSpPr/>
          <p:nvPr/>
        </p:nvSpPr>
        <p:spPr>
          <a:xfrm>
            <a:off x="12089963" y="3208020"/>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7-jammy</a:t>
            </a:r>
            <a:endParaRPr lang="en-US" sz="1150" dirty="0"/>
          </a:p>
        </p:txBody>
      </p:sp>
      <p:sp>
        <p:nvSpPr>
          <p:cNvPr id="27" name="Shape 25"/>
          <p:cNvSpPr/>
          <p:nvPr/>
        </p:nvSpPr>
        <p:spPr>
          <a:xfrm>
            <a:off x="7510224" y="3539728"/>
            <a:ext cx="6326386" cy="427673"/>
          </a:xfrm>
          <a:prstGeom prst="rect">
            <a:avLst/>
          </a:prstGeom>
          <a:solidFill>
            <a:srgbClr val="000000">
              <a:alpha val="4000"/>
            </a:srgbClr>
          </a:solidFill>
          <a:ln/>
        </p:spPr>
      </p:sp>
      <p:sp>
        <p:nvSpPr>
          <p:cNvPr id="28" name="Text 26"/>
          <p:cNvSpPr/>
          <p:nvPr/>
        </p:nvSpPr>
        <p:spPr>
          <a:xfrm>
            <a:off x="7657743" y="3635693"/>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Containerisation</a:t>
            </a:r>
            <a:endParaRPr lang="en-US" sz="1150" dirty="0"/>
          </a:p>
        </p:txBody>
      </p:sp>
      <p:sp>
        <p:nvSpPr>
          <p:cNvPr id="29" name="Text 27"/>
          <p:cNvSpPr/>
          <p:nvPr/>
        </p:nvSpPr>
        <p:spPr>
          <a:xfrm>
            <a:off x="9559409" y="3635693"/>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Docker</a:t>
            </a:r>
            <a:endParaRPr lang="en-US" sz="1150" dirty="0"/>
          </a:p>
        </p:txBody>
      </p:sp>
      <p:sp>
        <p:nvSpPr>
          <p:cNvPr id="30" name="Text 28"/>
          <p:cNvSpPr/>
          <p:nvPr/>
        </p:nvSpPr>
        <p:spPr>
          <a:xfrm>
            <a:off x="12089963" y="3635693"/>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29.0.4</a:t>
            </a:r>
            <a:endParaRPr lang="en-US" sz="1150" dirty="0"/>
          </a:p>
        </p:txBody>
      </p:sp>
      <p:sp>
        <p:nvSpPr>
          <p:cNvPr id="31" name="Shape 29"/>
          <p:cNvSpPr/>
          <p:nvPr/>
        </p:nvSpPr>
        <p:spPr>
          <a:xfrm>
            <a:off x="7510224" y="3967401"/>
            <a:ext cx="6326386" cy="427673"/>
          </a:xfrm>
          <a:prstGeom prst="rect">
            <a:avLst/>
          </a:prstGeom>
          <a:solidFill>
            <a:srgbClr val="FFFFFF">
              <a:alpha val="4000"/>
            </a:srgbClr>
          </a:solidFill>
          <a:ln/>
        </p:spPr>
      </p:sp>
      <p:sp>
        <p:nvSpPr>
          <p:cNvPr id="32" name="Text 30"/>
          <p:cNvSpPr/>
          <p:nvPr/>
        </p:nvSpPr>
        <p:spPr>
          <a:xfrm>
            <a:off x="7657743" y="4063365"/>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Orchestration</a:t>
            </a:r>
            <a:endParaRPr lang="en-US" sz="1150" dirty="0"/>
          </a:p>
        </p:txBody>
      </p:sp>
      <p:sp>
        <p:nvSpPr>
          <p:cNvPr id="33" name="Text 31"/>
          <p:cNvSpPr/>
          <p:nvPr/>
        </p:nvSpPr>
        <p:spPr>
          <a:xfrm>
            <a:off x="9559409" y="4063365"/>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Kubernetes (minikube)</a:t>
            </a:r>
            <a:endParaRPr lang="en-US" sz="1150" dirty="0"/>
          </a:p>
        </p:txBody>
      </p:sp>
      <p:sp>
        <p:nvSpPr>
          <p:cNvPr id="34" name="Text 32"/>
          <p:cNvSpPr/>
          <p:nvPr/>
        </p:nvSpPr>
        <p:spPr>
          <a:xfrm>
            <a:off x="12089963" y="4063365"/>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1.34.0</a:t>
            </a:r>
            <a:endParaRPr lang="en-US" sz="1150" dirty="0"/>
          </a:p>
        </p:txBody>
      </p:sp>
      <p:sp>
        <p:nvSpPr>
          <p:cNvPr id="35" name="Shape 33"/>
          <p:cNvSpPr/>
          <p:nvPr/>
        </p:nvSpPr>
        <p:spPr>
          <a:xfrm>
            <a:off x="7510224" y="4395073"/>
            <a:ext cx="6326386" cy="427673"/>
          </a:xfrm>
          <a:prstGeom prst="rect">
            <a:avLst/>
          </a:prstGeom>
          <a:solidFill>
            <a:srgbClr val="000000">
              <a:alpha val="4000"/>
            </a:srgbClr>
          </a:solidFill>
          <a:ln/>
        </p:spPr>
      </p:sp>
      <p:sp>
        <p:nvSpPr>
          <p:cNvPr id="36" name="Text 34"/>
          <p:cNvSpPr/>
          <p:nvPr/>
        </p:nvSpPr>
        <p:spPr>
          <a:xfrm>
            <a:off x="7657743" y="4491038"/>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CLI Tools</a:t>
            </a:r>
            <a:endParaRPr lang="en-US" sz="1150" dirty="0"/>
          </a:p>
        </p:txBody>
      </p:sp>
      <p:sp>
        <p:nvSpPr>
          <p:cNvPr id="37" name="Text 35"/>
          <p:cNvSpPr/>
          <p:nvPr/>
        </p:nvSpPr>
        <p:spPr>
          <a:xfrm>
            <a:off x="9559409" y="4491038"/>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kubectl</a:t>
            </a:r>
            <a:endParaRPr lang="en-US" sz="1150" dirty="0"/>
          </a:p>
        </p:txBody>
      </p:sp>
      <p:sp>
        <p:nvSpPr>
          <p:cNvPr id="38" name="Text 36"/>
          <p:cNvSpPr/>
          <p:nvPr/>
        </p:nvSpPr>
        <p:spPr>
          <a:xfrm>
            <a:off x="12089963" y="4491038"/>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1.31.0</a:t>
            </a:r>
            <a:endParaRPr lang="en-US" sz="1150" dirty="0"/>
          </a:p>
        </p:txBody>
      </p:sp>
      <p:sp>
        <p:nvSpPr>
          <p:cNvPr id="39" name="Shape 37"/>
          <p:cNvSpPr/>
          <p:nvPr/>
        </p:nvSpPr>
        <p:spPr>
          <a:xfrm>
            <a:off x="7510224" y="4822746"/>
            <a:ext cx="6326386" cy="427673"/>
          </a:xfrm>
          <a:prstGeom prst="rect">
            <a:avLst/>
          </a:prstGeom>
          <a:solidFill>
            <a:srgbClr val="FFFFFF">
              <a:alpha val="4000"/>
            </a:srgbClr>
          </a:solidFill>
          <a:ln/>
        </p:spPr>
      </p:sp>
      <p:sp>
        <p:nvSpPr>
          <p:cNvPr id="40" name="Text 38"/>
          <p:cNvSpPr/>
          <p:nvPr/>
        </p:nvSpPr>
        <p:spPr>
          <a:xfrm>
            <a:off x="7657743" y="4918710"/>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Automation</a:t>
            </a:r>
            <a:endParaRPr lang="en-US" sz="1150" dirty="0"/>
          </a:p>
        </p:txBody>
      </p:sp>
      <p:sp>
        <p:nvSpPr>
          <p:cNvPr id="41" name="Text 39"/>
          <p:cNvSpPr/>
          <p:nvPr/>
        </p:nvSpPr>
        <p:spPr>
          <a:xfrm>
            <a:off x="9559409" y="4918710"/>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Ansible</a:t>
            </a:r>
            <a:endParaRPr lang="en-US" sz="1150" dirty="0"/>
          </a:p>
        </p:txBody>
      </p:sp>
      <p:sp>
        <p:nvSpPr>
          <p:cNvPr id="42" name="Text 40"/>
          <p:cNvSpPr/>
          <p:nvPr/>
        </p:nvSpPr>
        <p:spPr>
          <a:xfrm>
            <a:off x="12089963" y="4918710"/>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Latest</a:t>
            </a:r>
            <a:endParaRPr lang="en-US" sz="1150" dirty="0"/>
          </a:p>
        </p:txBody>
      </p:sp>
      <p:sp>
        <p:nvSpPr>
          <p:cNvPr id="43" name="Shape 41"/>
          <p:cNvSpPr/>
          <p:nvPr/>
        </p:nvSpPr>
        <p:spPr>
          <a:xfrm>
            <a:off x="7510224" y="5250418"/>
            <a:ext cx="6326386" cy="427673"/>
          </a:xfrm>
          <a:prstGeom prst="rect">
            <a:avLst/>
          </a:prstGeom>
          <a:solidFill>
            <a:srgbClr val="000000">
              <a:alpha val="4000"/>
            </a:srgbClr>
          </a:solidFill>
          <a:ln/>
        </p:spPr>
      </p:sp>
      <p:sp>
        <p:nvSpPr>
          <p:cNvPr id="44" name="Text 42"/>
          <p:cNvSpPr/>
          <p:nvPr/>
        </p:nvSpPr>
        <p:spPr>
          <a:xfrm>
            <a:off x="7657743" y="5346383"/>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CI/CD</a:t>
            </a:r>
            <a:endParaRPr lang="en-US" sz="1150" dirty="0"/>
          </a:p>
        </p:txBody>
      </p:sp>
      <p:sp>
        <p:nvSpPr>
          <p:cNvPr id="45" name="Text 43"/>
          <p:cNvSpPr/>
          <p:nvPr/>
        </p:nvSpPr>
        <p:spPr>
          <a:xfrm>
            <a:off x="9559409" y="5346383"/>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GitHub Actions</a:t>
            </a:r>
            <a:endParaRPr lang="en-US" sz="1150" dirty="0"/>
          </a:p>
        </p:txBody>
      </p:sp>
      <p:sp>
        <p:nvSpPr>
          <p:cNvPr id="46" name="Text 44"/>
          <p:cNvSpPr/>
          <p:nvPr/>
        </p:nvSpPr>
        <p:spPr>
          <a:xfrm>
            <a:off x="12089963" y="5346383"/>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Latest</a:t>
            </a:r>
            <a:endParaRPr lang="en-US" sz="1150" dirty="0"/>
          </a:p>
        </p:txBody>
      </p:sp>
      <p:sp>
        <p:nvSpPr>
          <p:cNvPr id="47" name="Shape 45"/>
          <p:cNvSpPr/>
          <p:nvPr/>
        </p:nvSpPr>
        <p:spPr>
          <a:xfrm>
            <a:off x="7510224" y="5678091"/>
            <a:ext cx="6326386" cy="427673"/>
          </a:xfrm>
          <a:prstGeom prst="rect">
            <a:avLst/>
          </a:prstGeom>
          <a:solidFill>
            <a:srgbClr val="FFFFFF">
              <a:alpha val="4000"/>
            </a:srgbClr>
          </a:solidFill>
          <a:ln/>
        </p:spPr>
      </p:sp>
      <p:sp>
        <p:nvSpPr>
          <p:cNvPr id="48" name="Text 46"/>
          <p:cNvSpPr/>
          <p:nvPr/>
        </p:nvSpPr>
        <p:spPr>
          <a:xfrm>
            <a:off x="7657743" y="5774055"/>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Registry</a:t>
            </a:r>
            <a:endParaRPr lang="en-US" sz="1150" dirty="0"/>
          </a:p>
        </p:txBody>
      </p:sp>
      <p:sp>
        <p:nvSpPr>
          <p:cNvPr id="49" name="Text 47"/>
          <p:cNvSpPr/>
          <p:nvPr/>
        </p:nvSpPr>
        <p:spPr>
          <a:xfrm>
            <a:off x="9559409" y="5774055"/>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Docker Hub</a:t>
            </a:r>
            <a:endParaRPr lang="en-US" sz="1150" dirty="0"/>
          </a:p>
        </p:txBody>
      </p:sp>
      <p:sp>
        <p:nvSpPr>
          <p:cNvPr id="50" name="Text 48"/>
          <p:cNvSpPr/>
          <p:nvPr/>
        </p:nvSpPr>
        <p:spPr>
          <a:xfrm>
            <a:off x="12089963" y="5774055"/>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a:t>
            </a:r>
            <a:endParaRPr lang="en-US" sz="1150" dirty="0"/>
          </a:p>
        </p:txBody>
      </p:sp>
      <p:sp>
        <p:nvSpPr>
          <p:cNvPr id="51" name="Shape 49"/>
          <p:cNvSpPr/>
          <p:nvPr/>
        </p:nvSpPr>
        <p:spPr>
          <a:xfrm>
            <a:off x="7510224" y="6105763"/>
            <a:ext cx="6326386" cy="427673"/>
          </a:xfrm>
          <a:prstGeom prst="rect">
            <a:avLst/>
          </a:prstGeom>
          <a:solidFill>
            <a:srgbClr val="000000">
              <a:alpha val="4000"/>
            </a:srgbClr>
          </a:solidFill>
          <a:ln/>
        </p:spPr>
      </p:sp>
      <p:sp>
        <p:nvSpPr>
          <p:cNvPr id="52" name="Text 50"/>
          <p:cNvSpPr/>
          <p:nvPr/>
        </p:nvSpPr>
        <p:spPr>
          <a:xfrm>
            <a:off x="7657743" y="6201728"/>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OS</a:t>
            </a:r>
            <a:endParaRPr lang="en-US" sz="1150" dirty="0"/>
          </a:p>
        </p:txBody>
      </p:sp>
      <p:sp>
        <p:nvSpPr>
          <p:cNvPr id="53" name="Text 51"/>
          <p:cNvSpPr/>
          <p:nvPr/>
        </p:nvSpPr>
        <p:spPr>
          <a:xfrm>
            <a:off x="9559409" y="6201728"/>
            <a:ext cx="2228136"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Ubuntu</a:t>
            </a:r>
            <a:endParaRPr lang="en-US" sz="1150" dirty="0"/>
          </a:p>
        </p:txBody>
      </p:sp>
      <p:sp>
        <p:nvSpPr>
          <p:cNvPr id="54" name="Text 52"/>
          <p:cNvSpPr/>
          <p:nvPr/>
        </p:nvSpPr>
        <p:spPr>
          <a:xfrm>
            <a:off x="12089963" y="6201728"/>
            <a:ext cx="1599248" cy="235744"/>
          </a:xfrm>
          <a:prstGeom prst="rect">
            <a:avLst/>
          </a:prstGeom>
          <a:noFill/>
          <a:ln/>
        </p:spPr>
        <p:txBody>
          <a:bodyPr wrap="non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24.04.3 LTS</a:t>
            </a:r>
            <a:endParaRPr lang="en-US" sz="1150" dirty="0"/>
          </a:p>
        </p:txBody>
      </p:sp>
      <p:sp>
        <p:nvSpPr>
          <p:cNvPr id="55" name="Text 53"/>
          <p:cNvSpPr/>
          <p:nvPr/>
        </p:nvSpPr>
        <p:spPr>
          <a:xfrm>
            <a:off x="793790" y="6872764"/>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Security was a paramount consideration throughout the project, ensuring robust protection from code to deployment. Key technologies and tools underpin every aspect of this modern DevOps pipeline.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3172063"/>
            <a:ext cx="7825502" cy="978218"/>
          </a:xfrm>
          <a:prstGeom prst="rect">
            <a:avLst/>
          </a:prstGeom>
          <a:noFill/>
          <a:ln/>
        </p:spPr>
        <p:txBody>
          <a:bodyPr wrap="none" lIns="0" tIns="0" rIns="0" bIns="0" rtlCol="0" anchor="t"/>
          <a:lstStyle/>
          <a:p>
            <a:pPr algn="l" indent="0" marL="0">
              <a:lnSpc>
                <a:spcPts val="7700"/>
              </a:lnSpc>
              <a:buNone/>
            </a:pPr>
            <a:r>
              <a:rPr lang="en-US" sz="6150" b="1" dirty="0">
                <a:solidFill>
                  <a:srgbClr val="443728"/>
                </a:solidFill>
                <a:latin typeface="Crimson Pro Bold" pitchFamily="34" charset="0"/>
                <a:ea typeface="Crimson Pro Bold" pitchFamily="34" charset="-122"/>
                <a:cs typeface="Crimson Pro Bold" pitchFamily="34" charset="-120"/>
              </a:rPr>
              <a:t>2nd Approach</a:t>
            </a:r>
            <a:endParaRPr lang="en-US" sz="6150" dirty="0"/>
          </a:p>
        </p:txBody>
      </p:sp>
      <p:sp>
        <p:nvSpPr>
          <p:cNvPr id="3" name="Text 1"/>
          <p:cNvSpPr/>
          <p:nvPr/>
        </p:nvSpPr>
        <p:spPr>
          <a:xfrm>
            <a:off x="793790" y="4490442"/>
            <a:ext cx="9861709"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Hosting the application on EC2 server "AWS cloud"</a:t>
            </a:r>
            <a:endParaRPr lang="en-US" sz="3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CFA">
              <a:alpha val="85000"/>
            </a:srgbClr>
          </a:solidFill>
          <a:ln/>
        </p:spPr>
      </p:sp>
      <p:sp>
        <p:nvSpPr>
          <p:cNvPr id="4" name="Text 1"/>
          <p:cNvSpPr/>
          <p:nvPr/>
        </p:nvSpPr>
        <p:spPr>
          <a:xfrm>
            <a:off x="793790" y="2612231"/>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2nd Approach: Hosting the application on EC2 server "AWS cloud" Using Docker Compose</a:t>
            </a:r>
            <a:endParaRPr lang="en-US" sz="4450" dirty="0"/>
          </a:p>
        </p:txBody>
      </p:sp>
      <p:sp>
        <p:nvSpPr>
          <p:cNvPr id="5" name="Text 2"/>
          <p:cNvSpPr/>
          <p:nvPr/>
        </p:nvSpPr>
        <p:spPr>
          <a:xfrm>
            <a:off x="793790" y="436995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Setup and  Containerization. (Docker contentainers).</a:t>
            </a:r>
            <a:endParaRPr lang="en-US" sz="1750" dirty="0"/>
          </a:p>
        </p:txBody>
      </p:sp>
      <p:sp>
        <p:nvSpPr>
          <p:cNvPr id="6" name="Text 3"/>
          <p:cNvSpPr/>
          <p:nvPr/>
        </p:nvSpPr>
        <p:spPr>
          <a:xfrm>
            <a:off x="793790" y="4812149"/>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Infrastructure Provisioning &amp; Deployment. (Ansible Configurations).</a:t>
            </a:r>
            <a:endParaRPr lang="en-US" sz="1750" dirty="0"/>
          </a:p>
        </p:txBody>
      </p:sp>
      <p:sp>
        <p:nvSpPr>
          <p:cNvPr id="7" name="Text 4"/>
          <p:cNvSpPr/>
          <p:nvPr/>
        </p:nvSpPr>
        <p:spPr>
          <a:xfrm>
            <a:off x="793790" y="5254347"/>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Monitoring, Visualization.(Prometheus and Granfana).</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2361" y="622578"/>
            <a:ext cx="5094089" cy="636746"/>
          </a:xfrm>
          <a:prstGeom prst="rect">
            <a:avLst/>
          </a:prstGeom>
          <a:noFill/>
          <a:ln/>
        </p:spPr>
        <p:txBody>
          <a:bodyPr wrap="none" lIns="0" tIns="0" rIns="0" bIns="0" rtlCol="0" anchor="t"/>
          <a:lstStyle/>
          <a:p>
            <a:pPr algn="l" indent="0" marL="0">
              <a:lnSpc>
                <a:spcPts val="5000"/>
              </a:lnSpc>
              <a:buNone/>
            </a:pPr>
            <a:r>
              <a:rPr lang="en-US" sz="4000" b="1" dirty="0">
                <a:solidFill>
                  <a:srgbClr val="443728"/>
                </a:solidFill>
                <a:latin typeface="Crimson Pro Bold" pitchFamily="34" charset="0"/>
                <a:ea typeface="Crimson Pro Bold" pitchFamily="34" charset="-122"/>
                <a:cs typeface="Crimson Pro Bold" pitchFamily="34" charset="-120"/>
              </a:rPr>
              <a:t>2nd Approach</a:t>
            </a:r>
            <a:endParaRPr lang="en-US" sz="4000" dirty="0"/>
          </a:p>
        </p:txBody>
      </p:sp>
      <p:pic>
        <p:nvPicPr>
          <p:cNvPr id="3" name="Image 0" descr="preencoded.png">    </p:cNvPr>
          <p:cNvPicPr>
            <a:picLocks noChangeAspect="1"/>
          </p:cNvPicPr>
          <p:nvPr/>
        </p:nvPicPr>
        <p:blipFill>
          <a:blip r:embed="rId1"/>
          <a:stretch>
            <a:fillRect/>
          </a:stretch>
        </p:blipFill>
        <p:spPr>
          <a:xfrm>
            <a:off x="1455658" y="1564957"/>
            <a:ext cx="11718965" cy="60401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2nd Approach</a:t>
            </a:r>
            <a:endParaRPr lang="en-US" sz="4450" dirty="0"/>
          </a:p>
        </p:txBody>
      </p:sp>
      <p:sp>
        <p:nvSpPr>
          <p:cNvPr id="3" name="Text 1"/>
          <p:cNvSpPr/>
          <p:nvPr/>
        </p:nvSpPr>
        <p:spPr>
          <a:xfrm>
            <a:off x="793790" y="167270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Docker Compose</a:t>
            </a:r>
            <a:endParaRPr lang="en-US" sz="1750" dirty="0"/>
          </a:p>
        </p:txBody>
      </p:sp>
      <p:pic>
        <p:nvPicPr>
          <p:cNvPr id="4" name="Image 0" descr="preencoded.png">    </p:cNvPr>
          <p:cNvPicPr>
            <a:picLocks noChangeAspect="1"/>
          </p:cNvPicPr>
          <p:nvPr/>
        </p:nvPicPr>
        <p:blipFill>
          <a:blip r:embed="rId1"/>
          <a:stretch>
            <a:fillRect/>
          </a:stretch>
        </p:blipFill>
        <p:spPr>
          <a:xfrm>
            <a:off x="793790" y="2290763"/>
            <a:ext cx="13042821" cy="4177784"/>
          </a:xfrm>
          <a:prstGeom prst="rect">
            <a:avLst/>
          </a:prstGeom>
        </p:spPr>
      </p:pic>
      <p:sp>
        <p:nvSpPr>
          <p:cNvPr id="5" name="Text 2"/>
          <p:cNvSpPr/>
          <p:nvPr/>
        </p:nvSpPr>
        <p:spPr>
          <a:xfrm>
            <a:off x="793790" y="6723697"/>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23768"/>
            <a:ext cx="5103614" cy="637937"/>
          </a:xfrm>
          <a:prstGeom prst="rect">
            <a:avLst/>
          </a:prstGeom>
          <a:noFill/>
          <a:ln/>
        </p:spPr>
        <p:txBody>
          <a:bodyPr wrap="none" lIns="0" tIns="0" rIns="0" bIns="0" rtlCol="0" anchor="t"/>
          <a:lstStyle/>
          <a:p>
            <a:pPr algn="l" indent="0" marL="0">
              <a:lnSpc>
                <a:spcPts val="5000"/>
              </a:lnSpc>
              <a:buNone/>
            </a:pPr>
            <a:r>
              <a:rPr lang="en-US" sz="4000" b="1" dirty="0">
                <a:solidFill>
                  <a:srgbClr val="443728"/>
                </a:solidFill>
                <a:latin typeface="Crimson Pro Bold" pitchFamily="34" charset="0"/>
                <a:ea typeface="Crimson Pro Bold" pitchFamily="34" charset="-122"/>
                <a:cs typeface="Crimson Pro Bold" pitchFamily="34" charset="-120"/>
              </a:rPr>
              <a:t>2nd Approach</a:t>
            </a:r>
            <a:endParaRPr lang="en-US" sz="4000" dirty="0"/>
          </a:p>
        </p:txBody>
      </p:sp>
      <p:sp>
        <p:nvSpPr>
          <p:cNvPr id="3" name="Text 1"/>
          <p:cNvSpPr/>
          <p:nvPr/>
        </p:nvSpPr>
        <p:spPr>
          <a:xfrm>
            <a:off x="793790" y="1567815"/>
            <a:ext cx="13042821" cy="326708"/>
          </a:xfrm>
          <a:prstGeom prst="rect">
            <a:avLst/>
          </a:prstGeom>
          <a:noFill/>
          <a:ln/>
        </p:spPr>
        <p:txBody>
          <a:bodyPr wrap="none" lIns="0" tIns="0" rIns="0" bIns="0" rtlCol="0" anchor="t"/>
          <a:lstStyle/>
          <a:p>
            <a:pPr algn="l" indent="0" marL="0">
              <a:lnSpc>
                <a:spcPts val="2550"/>
              </a:lnSpc>
              <a:buNone/>
            </a:pPr>
            <a:r>
              <a:rPr lang="en-US" sz="1600" dirty="0">
                <a:solidFill>
                  <a:srgbClr val="443728"/>
                </a:solidFill>
                <a:latin typeface="Open Sans" pitchFamily="34" charset="0"/>
                <a:ea typeface="Open Sans" pitchFamily="34" charset="-122"/>
                <a:cs typeface="Open Sans" pitchFamily="34" charset="-120"/>
              </a:rPr>
              <a:t>playbook.yaml</a:t>
            </a:r>
            <a:endParaRPr lang="en-US" sz="1600" dirty="0"/>
          </a:p>
        </p:txBody>
      </p:sp>
      <p:pic>
        <p:nvPicPr>
          <p:cNvPr id="4" name="Image 0" descr="preencoded.png">    </p:cNvPr>
          <p:cNvPicPr>
            <a:picLocks noChangeAspect="1"/>
          </p:cNvPicPr>
          <p:nvPr/>
        </p:nvPicPr>
        <p:blipFill>
          <a:blip r:embed="rId1"/>
          <a:stretch>
            <a:fillRect/>
          </a:stretch>
        </p:blipFill>
        <p:spPr>
          <a:xfrm>
            <a:off x="2003941" y="2124075"/>
            <a:ext cx="10622518" cy="4826794"/>
          </a:xfrm>
          <a:prstGeom prst="rect">
            <a:avLst/>
          </a:prstGeom>
        </p:spPr>
      </p:pic>
      <p:sp>
        <p:nvSpPr>
          <p:cNvPr id="5" name="Text 2"/>
          <p:cNvSpPr/>
          <p:nvPr/>
        </p:nvSpPr>
        <p:spPr>
          <a:xfrm>
            <a:off x="793790" y="7180421"/>
            <a:ext cx="13042821" cy="326708"/>
          </a:xfrm>
          <a:prstGeom prst="rect">
            <a:avLst/>
          </a:prstGeom>
          <a:noFill/>
          <a:ln/>
        </p:spPr>
        <p:txBody>
          <a:bodyPr wrap="none" lIns="0" tIns="0" rIns="0" bIns="0" rtlCol="0" anchor="t"/>
          <a:lstStyle/>
          <a:p>
            <a:pPr algn="l" indent="0" marL="0">
              <a:lnSpc>
                <a:spcPts val="2550"/>
              </a:lnSpc>
              <a:buNone/>
            </a:pP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2nd Approach</a:t>
            </a:r>
            <a:endParaRPr lang="en-US" sz="4450" dirty="0"/>
          </a:p>
        </p:txBody>
      </p:sp>
      <p:pic>
        <p:nvPicPr>
          <p:cNvPr id="3" name="Image 0" descr="preencoded.png">    </p:cNvPr>
          <p:cNvPicPr>
            <a:picLocks noChangeAspect="1"/>
          </p:cNvPicPr>
          <p:nvPr/>
        </p:nvPicPr>
        <p:blipFill>
          <a:blip r:embed="rId1"/>
          <a:stretch>
            <a:fillRect/>
          </a:stretch>
        </p:blipFill>
        <p:spPr>
          <a:xfrm>
            <a:off x="1671161" y="1672709"/>
            <a:ext cx="11288078" cy="580501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2nd Approach</a:t>
            </a:r>
            <a:endParaRPr lang="en-US" sz="4450" dirty="0"/>
          </a:p>
        </p:txBody>
      </p:sp>
      <p:pic>
        <p:nvPicPr>
          <p:cNvPr id="3" name="Image 0" descr="preencoded.png">    </p:cNvPr>
          <p:cNvPicPr>
            <a:picLocks noChangeAspect="1"/>
          </p:cNvPicPr>
          <p:nvPr/>
        </p:nvPicPr>
        <p:blipFill>
          <a:blip r:embed="rId1"/>
          <a:stretch>
            <a:fillRect/>
          </a:stretch>
        </p:blipFill>
        <p:spPr>
          <a:xfrm>
            <a:off x="1777603" y="1672709"/>
            <a:ext cx="11075075" cy="57320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25673"/>
            <a:ext cx="571940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DevOps Capstone Project: Todo List Application</a:t>
            </a:r>
            <a:endParaRPr lang="en-US" sz="2200" dirty="0"/>
          </a:p>
        </p:txBody>
      </p:sp>
      <p:sp>
        <p:nvSpPr>
          <p:cNvPr id="4" name="Text 1"/>
          <p:cNvSpPr/>
          <p:nvPr/>
        </p:nvSpPr>
        <p:spPr>
          <a:xfrm>
            <a:off x="6280190" y="3220164"/>
            <a:ext cx="7556421" cy="1417677"/>
          </a:xfrm>
          <a:prstGeom prst="rect">
            <a:avLst/>
          </a:prstGeom>
          <a:noFill/>
          <a:ln/>
        </p:spPr>
        <p:txBody>
          <a:bodyPr wrap="none" lIns="0" tIns="0" rIns="0" bIns="0" rtlCol="0" anchor="t"/>
          <a:lstStyle/>
          <a:p>
            <a:pPr algn="l" indent="0" marL="0">
              <a:lnSpc>
                <a:spcPts val="11150"/>
              </a:lnSpc>
              <a:buNone/>
            </a:pPr>
            <a:r>
              <a:rPr lang="en-US" sz="8900" b="1" dirty="0">
                <a:solidFill>
                  <a:srgbClr val="443728"/>
                </a:solidFill>
                <a:latin typeface="Crimson Pro Bold" pitchFamily="34" charset="0"/>
                <a:ea typeface="Crimson Pro Bold" pitchFamily="34" charset="-122"/>
                <a:cs typeface="Crimson Pro Bold" pitchFamily="34" charset="-120"/>
              </a:rPr>
              <a:t>Thank You</a:t>
            </a:r>
            <a:endParaRPr lang="en-US" sz="8900" dirty="0"/>
          </a:p>
        </p:txBody>
      </p:sp>
      <p:sp>
        <p:nvSpPr>
          <p:cNvPr id="5" name="Text 2"/>
          <p:cNvSpPr/>
          <p:nvPr/>
        </p:nvSpPr>
        <p:spPr>
          <a:xfrm>
            <a:off x="6280190" y="4978003"/>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Thank you for your attention. We appreciate you taking the time to learn about our project.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2025-12-07T16:06:30Z</dcterms:created>
  <dcterms:modified xsi:type="dcterms:W3CDTF">2025-12-07T16:06:30Z</dcterms:modified>
</cp:coreProperties>
</file>